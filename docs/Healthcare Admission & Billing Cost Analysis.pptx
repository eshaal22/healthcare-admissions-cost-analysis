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4.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4.png"/><Relationship Id="rId8" Type="http://schemas.openxmlformats.org/officeDocument/2006/relationships/image" Target="../media/image20.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4.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4.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 Id="rId11" Type="http://schemas.openxmlformats.org/officeDocument/2006/relationships/image" Target="../media/image5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4.png"/><Relationship Id="rId6" Type="http://schemas.openxmlformats.org/officeDocument/2006/relationships/image" Target="../media/image60.png"/><Relationship Id="rId7"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2.png"/><Relationship Id="rId4" Type="http://schemas.openxmlformats.org/officeDocument/2006/relationships/image" Target="../media/image4.png"/><Relationship Id="rId5" Type="http://schemas.openxmlformats.org/officeDocument/2006/relationships/image" Target="../media/image63.png"/><Relationship Id="rId6" Type="http://schemas.openxmlformats.org/officeDocument/2006/relationships/image" Target="../media/image6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23875" y="2102197"/>
            <a:ext cx="3495675" cy="161925"/>
          </a:xfrm>
          <a:prstGeom prst="rect">
            <a:avLst/>
          </a:prstGeom>
          <a:noFill/>
        </p:spPr>
        <p:txBody>
          <a:bodyPr wrap="square" lIns="0" rIns="0" tIns="0" bIns="0" anchor="t">
            <a:spAutoFit/>
          </a:bodyPr>
          <a:lstStyle/>
          <a:p>
            <a:pPr algn="l"/>
            <a:r>
              <a:rPr b="0" sz="1050" i="0" u="none">
                <a:solidFill>
                  <a:srgbClr val="0EA5E9"/>
                </a:solidFill>
                <a:latin typeface="Inter SemiBold"/>
              </a:rPr>
              <a:t>AURATTECH DATA ANALYST TRACK PROJECT</a:t>
            </a:r>
          </a:p>
        </p:txBody>
      </p:sp>
      <p:sp>
        <p:nvSpPr>
          <p:cNvPr id="4" name="TextBox 3"/>
          <p:cNvSpPr txBox="1"/>
          <p:nvPr/>
        </p:nvSpPr>
        <p:spPr>
          <a:xfrm>
            <a:off x="523875" y="2264122"/>
            <a:ext cx="10001250" cy="1139130"/>
          </a:xfrm>
          <a:prstGeom prst="rect">
            <a:avLst/>
          </a:prstGeom>
          <a:noFill/>
        </p:spPr>
        <p:txBody>
          <a:bodyPr wrap="square" lIns="0" rIns="0" tIns="0" bIns="0" anchor="t">
            <a:spAutoFit/>
          </a:bodyPr>
          <a:lstStyle/>
          <a:p>
            <a:pPr algn="l">
              <a:lnSpc>
                <a:spcPts val="4484"/>
              </a:lnSpc>
            </a:pPr>
            <a:r>
              <a:rPr b="1" sz="3900" i="0" u="none">
                <a:solidFill>
                  <a:srgbClr val="0F172A"/>
                </a:solidFill>
                <a:latin typeface="Plus Jakarta Sans"/>
              </a:rPr>
              <a:t>Healthcare Admission &amp; Billing Cost Analysis</a:t>
            </a:r>
          </a:p>
        </p:txBody>
      </p:sp>
      <p:sp>
        <p:nvSpPr>
          <p:cNvPr id="5" name="TextBox 4"/>
          <p:cNvSpPr txBox="1"/>
          <p:nvPr/>
        </p:nvSpPr>
        <p:spPr>
          <a:xfrm>
            <a:off x="523875" y="3593752"/>
            <a:ext cx="8572500" cy="600075"/>
          </a:xfrm>
          <a:prstGeom prst="rect">
            <a:avLst/>
          </a:prstGeom>
          <a:noFill/>
        </p:spPr>
        <p:txBody>
          <a:bodyPr wrap="square" lIns="0" rIns="0" tIns="0" bIns="0" anchor="t">
            <a:spAutoFit/>
          </a:bodyPr>
          <a:lstStyle/>
          <a:p>
            <a:pPr algn="l">
              <a:lnSpc>
                <a:spcPts val="2362"/>
              </a:lnSpc>
            </a:pPr>
            <a:r>
              <a:rPr b="0" sz="1575" i="0" u="none">
                <a:solidFill>
                  <a:srgbClr val="334155"/>
                </a:solidFill>
                <a:latin typeface="Inter"/>
              </a:rPr>
              <a:t>Examining patient admission patterns and billing costs to identify drivers of high-cost care across healthcare networks.</a:t>
            </a:r>
          </a:p>
        </p:txBody>
      </p:sp>
      <p:sp>
        <p:nvSpPr>
          <p:cNvPr id="6" name="TextBox 5"/>
          <p:cNvSpPr txBox="1"/>
          <p:nvPr/>
        </p:nvSpPr>
        <p:spPr>
          <a:xfrm>
            <a:off x="523875" y="4574827"/>
            <a:ext cx="3905250" cy="180975"/>
          </a:xfrm>
          <a:prstGeom prst="rect">
            <a:avLst/>
          </a:prstGeom>
          <a:noFill/>
        </p:spPr>
        <p:txBody>
          <a:bodyPr wrap="square" lIns="0" rIns="0" tIns="0" bIns="0" anchor="t">
            <a:spAutoFit/>
          </a:bodyPr>
          <a:lstStyle/>
          <a:p>
            <a:pPr algn="l"/>
            <a:r>
              <a:rPr b="0" sz="1125" i="0" u="none">
                <a:solidFill>
                  <a:srgbClr val="334155"/>
                </a:solidFill>
                <a:latin typeface="Inter SemiBold"/>
              </a:rPr>
              <a:t>Team Members: Maryam Asif • Dua Fatima • Eshaal Atif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5405437" cy="3648075"/>
          </a:xfrm>
          <a:prstGeom prst="rect">
            <a:avLst/>
          </a:prstGeom>
        </p:spPr>
      </p:pic>
      <p:pic>
        <p:nvPicPr>
          <p:cNvPr id="4" name="Picture 3" descr="image.png"/>
          <p:cNvPicPr>
            <a:picLocks noChangeAspect="1"/>
          </p:cNvPicPr>
          <p:nvPr/>
        </p:nvPicPr>
        <p:blipFill>
          <a:blip r:embed="rId4"/>
          <a:stretch>
            <a:fillRect/>
          </a:stretch>
        </p:blipFill>
        <p:spPr>
          <a:xfrm>
            <a:off x="6262687" y="1000125"/>
            <a:ext cx="5405437" cy="3648075"/>
          </a:xfrm>
          <a:prstGeom prst="rect">
            <a:avLst/>
          </a:prstGeom>
        </p:spPr>
      </p:pic>
      <p:pic>
        <p:nvPicPr>
          <p:cNvPr id="5" name="Picture 4" descr="image.png"/>
          <p:cNvPicPr>
            <a:picLocks noChangeAspect="1"/>
          </p:cNvPicPr>
          <p:nvPr/>
        </p:nvPicPr>
        <p:blipFill>
          <a:blip r:embed="rId5"/>
          <a:stretch>
            <a:fillRect/>
          </a:stretch>
        </p:blipFill>
        <p:spPr>
          <a:xfrm>
            <a:off x="523875" y="6410325"/>
            <a:ext cx="12192000" cy="257175"/>
          </a:xfrm>
          <a:prstGeom prst="rect">
            <a:avLst/>
          </a:prstGeom>
        </p:spPr>
      </p:pic>
      <p:sp>
        <p:nvSpPr>
          <p:cNvPr id="6" name="TextBox 5"/>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7" name="TextBox 6"/>
          <p:cNvSpPr txBox="1"/>
          <p:nvPr/>
        </p:nvSpPr>
        <p:spPr>
          <a:xfrm>
            <a:off x="123729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2</a:t>
            </a:r>
          </a:p>
        </p:txBody>
      </p:sp>
      <p:sp>
        <p:nvSpPr>
          <p:cNvPr id="8" name="TextBox 7"/>
          <p:cNvSpPr txBox="1"/>
          <p:nvPr/>
        </p:nvSpPr>
        <p:spPr>
          <a:xfrm>
            <a:off x="1019175" y="1219200"/>
            <a:ext cx="4925615"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Operational Challenge</a:t>
            </a:r>
          </a:p>
        </p:txBody>
      </p:sp>
      <p:sp>
        <p:nvSpPr>
          <p:cNvPr id="9" name="TextBox 8"/>
          <p:cNvSpPr txBox="1"/>
          <p:nvPr/>
        </p:nvSpPr>
        <p:spPr>
          <a:xfrm>
            <a:off x="742950" y="1562100"/>
            <a:ext cx="4967287" cy="642937"/>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Core Problem:</a:t>
            </a:r>
            <a:r>
              <a:rPr b="0" sz="1125" i="0" u="none">
                <a:solidFill>
                  <a:srgbClr val="475569"/>
                </a:solidFill>
                <a:latin typeface="Inter"/>
              </a:rPr>
              <a:t> Billing costs and lengths of stay vary widely across conditions and hospitals, making true cost drivers exceptionally difficult to pinpoint.</a:t>
            </a:r>
          </a:p>
        </p:txBody>
      </p:sp>
      <p:sp>
        <p:nvSpPr>
          <p:cNvPr id="10" name="TextBox 9"/>
          <p:cNvSpPr txBox="1"/>
          <p:nvPr/>
        </p:nvSpPr>
        <p:spPr>
          <a:xfrm>
            <a:off x="742950" y="2319337"/>
            <a:ext cx="4967287" cy="642937"/>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Operational Impact:</a:t>
            </a:r>
            <a:r>
              <a:rPr b="0" sz="1125" i="0" u="none">
                <a:solidFill>
                  <a:srgbClr val="475569"/>
                </a:solidFill>
                <a:latin typeface="Inter"/>
              </a:rPr>
              <a:t> Without granular visibility, hospital systems and insurers struggle to anticipate high-cost admissions, optimize bed allocation, or prioritize resource planning effectively.</a:t>
            </a:r>
          </a:p>
        </p:txBody>
      </p:sp>
      <p:pic>
        <p:nvPicPr>
          <p:cNvPr id="11" name="Picture 10" descr="image.png"/>
          <p:cNvPicPr>
            <a:picLocks noChangeAspect="1"/>
          </p:cNvPicPr>
          <p:nvPr/>
        </p:nvPicPr>
        <p:blipFill>
          <a:blip r:embed="rId6"/>
          <a:stretch>
            <a:fillRect/>
          </a:stretch>
        </p:blipFill>
        <p:spPr>
          <a:xfrm>
            <a:off x="6272212" y="1009650"/>
            <a:ext cx="5386387" cy="3629025"/>
          </a:xfrm>
          <a:prstGeom prst="rect">
            <a:avLst/>
          </a:prstGeom>
        </p:spPr>
      </p:pic>
      <p:pic>
        <p:nvPicPr>
          <p:cNvPr id="12" name="Picture 11" descr="image.png"/>
          <p:cNvPicPr>
            <a:picLocks noChangeAspect="1"/>
          </p:cNvPicPr>
          <p:nvPr/>
        </p:nvPicPr>
        <p:blipFill>
          <a:blip r:embed="rId7"/>
          <a:stretch>
            <a:fillRect/>
          </a:stretch>
        </p:blipFill>
        <p:spPr>
          <a:xfrm>
            <a:off x="742950" y="1243012"/>
            <a:ext cx="180975" cy="180975"/>
          </a:xfrm>
          <a:prstGeom prst="rect">
            <a:avLst/>
          </a:prstGeom>
        </p:spPr>
      </p:pic>
      <p:sp>
        <p:nvSpPr>
          <p:cNvPr id="13" name="TextBox 12"/>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Business Problem &amp; Target Stakeholders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11144250" cy="628650"/>
          </a:xfrm>
          <a:prstGeom prst="rect">
            <a:avLst/>
          </a:prstGeom>
        </p:spPr>
      </p:pic>
      <p:pic>
        <p:nvPicPr>
          <p:cNvPr id="4" name="Picture 3" descr="image.png"/>
          <p:cNvPicPr>
            <a:picLocks noChangeAspect="1"/>
          </p:cNvPicPr>
          <p:nvPr/>
        </p:nvPicPr>
        <p:blipFill>
          <a:blip r:embed="rId4"/>
          <a:stretch>
            <a:fillRect/>
          </a:stretch>
        </p:blipFill>
        <p:spPr>
          <a:xfrm>
            <a:off x="523875" y="1771650"/>
            <a:ext cx="5524500" cy="400050"/>
          </a:xfrm>
          <a:prstGeom prst="rect">
            <a:avLst/>
          </a:prstGeom>
        </p:spPr>
      </p:pic>
      <p:pic>
        <p:nvPicPr>
          <p:cNvPr id="5" name="Picture 4" descr="image.png"/>
          <p:cNvPicPr>
            <a:picLocks noChangeAspect="1"/>
          </p:cNvPicPr>
          <p:nvPr/>
        </p:nvPicPr>
        <p:blipFill>
          <a:blip r:embed="rId5"/>
          <a:stretch>
            <a:fillRect/>
          </a:stretch>
        </p:blipFill>
        <p:spPr>
          <a:xfrm>
            <a:off x="6143625" y="1771650"/>
            <a:ext cx="5524500" cy="400050"/>
          </a:xfrm>
          <a:prstGeom prst="rect">
            <a:avLst/>
          </a:prstGeom>
        </p:spPr>
      </p:pic>
      <p:pic>
        <p:nvPicPr>
          <p:cNvPr id="6" name="Picture 5" descr="image.png"/>
          <p:cNvPicPr>
            <a:picLocks noChangeAspect="1"/>
          </p:cNvPicPr>
          <p:nvPr/>
        </p:nvPicPr>
        <p:blipFill>
          <a:blip r:embed="rId6"/>
          <a:stretch>
            <a:fillRect/>
          </a:stretch>
        </p:blipFill>
        <p:spPr>
          <a:xfrm>
            <a:off x="523875" y="2266950"/>
            <a:ext cx="5524500" cy="400050"/>
          </a:xfrm>
          <a:prstGeom prst="rect">
            <a:avLst/>
          </a:prstGeom>
        </p:spPr>
      </p:pic>
      <p:pic>
        <p:nvPicPr>
          <p:cNvPr id="7" name="Picture 6" descr="image.png"/>
          <p:cNvPicPr>
            <a:picLocks noChangeAspect="1"/>
          </p:cNvPicPr>
          <p:nvPr/>
        </p:nvPicPr>
        <p:blipFill>
          <a:blip r:embed="rId7"/>
          <a:stretch>
            <a:fillRect/>
          </a:stretch>
        </p:blipFill>
        <p:spPr>
          <a:xfrm>
            <a:off x="6143625" y="2266950"/>
            <a:ext cx="5524500" cy="400050"/>
          </a:xfrm>
          <a:prstGeom prst="rect">
            <a:avLst/>
          </a:prstGeom>
        </p:spPr>
      </p:pic>
      <p:pic>
        <p:nvPicPr>
          <p:cNvPr id="8" name="Picture 7" descr="image.png"/>
          <p:cNvPicPr>
            <a:picLocks noChangeAspect="1"/>
          </p:cNvPicPr>
          <p:nvPr/>
        </p:nvPicPr>
        <p:blipFill>
          <a:blip r:embed="rId8"/>
          <a:stretch>
            <a:fillRect/>
          </a:stretch>
        </p:blipFill>
        <p:spPr>
          <a:xfrm>
            <a:off x="523875" y="6410325"/>
            <a:ext cx="12192000" cy="257175"/>
          </a:xfrm>
          <a:prstGeom prst="rect">
            <a:avLst/>
          </a:prstGeom>
        </p:spPr>
      </p:pic>
      <p:sp>
        <p:nvSpPr>
          <p:cNvPr id="9" name="TextBox 8"/>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10" name="TextBox 9"/>
          <p:cNvSpPr txBox="1"/>
          <p:nvPr/>
        </p:nvSpPr>
        <p:spPr>
          <a:xfrm>
            <a:off x="123729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3</a:t>
            </a:r>
          </a:p>
        </p:txBody>
      </p:sp>
      <p:sp>
        <p:nvSpPr>
          <p:cNvPr id="11" name="TextBox 10"/>
          <p:cNvSpPr txBox="1"/>
          <p:nvPr/>
        </p:nvSpPr>
        <p:spPr>
          <a:xfrm>
            <a:off x="733425" y="1114425"/>
            <a:ext cx="10763250" cy="400050"/>
          </a:xfrm>
          <a:prstGeom prst="rect">
            <a:avLst/>
          </a:prstGeom>
          <a:noFill/>
        </p:spPr>
        <p:txBody>
          <a:bodyPr wrap="square" lIns="0" rIns="0" tIns="0" bIns="0" anchor="t">
            <a:spAutoFit/>
          </a:bodyPr>
          <a:lstStyle/>
          <a:p>
            <a:pPr algn="l">
              <a:lnSpc>
                <a:spcPts val="1575"/>
              </a:lnSpc>
            </a:pPr>
            <a:r>
              <a:rPr b="1" sz="1050" i="0" u="none">
                <a:solidFill>
                  <a:srgbClr val="166534"/>
                </a:solidFill>
                <a:latin typeface="Inter"/>
              </a:rPr>
              <a:t>Primary Objective:</a:t>
            </a:r>
            <a:r>
              <a:rPr b="0" sz="1050" i="0" u="none">
                <a:solidFill>
                  <a:srgbClr val="166534"/>
                </a:solidFill>
                <a:latin typeface="Inter Medium"/>
              </a:rPr>
              <a:t> Identify medical, hospital, and patient factors associated with higher billing amounts and prolonged hospital stays using a rigorous SQL analytical pipeline.</a:t>
            </a:r>
          </a:p>
        </p:txBody>
      </p:sp>
      <p:pic>
        <p:nvPicPr>
          <p:cNvPr id="12" name="Picture 11" descr="image.png"/>
          <p:cNvPicPr>
            <a:picLocks noChangeAspect="1"/>
          </p:cNvPicPr>
          <p:nvPr/>
        </p:nvPicPr>
        <p:blipFill>
          <a:blip r:embed="rId9"/>
          <a:stretch>
            <a:fillRect/>
          </a:stretch>
        </p:blipFill>
        <p:spPr>
          <a:xfrm>
            <a:off x="666750" y="1876425"/>
            <a:ext cx="285750" cy="190500"/>
          </a:xfrm>
          <a:prstGeom prst="rect">
            <a:avLst/>
          </a:prstGeom>
        </p:spPr>
      </p:pic>
      <p:pic>
        <p:nvPicPr>
          <p:cNvPr id="13" name="Picture 12" descr="image.png"/>
          <p:cNvPicPr>
            <a:picLocks noChangeAspect="1"/>
          </p:cNvPicPr>
          <p:nvPr/>
        </p:nvPicPr>
        <p:blipFill>
          <a:blip r:embed="rId10"/>
          <a:stretch>
            <a:fillRect/>
          </a:stretch>
        </p:blipFill>
        <p:spPr>
          <a:xfrm>
            <a:off x="6286500" y="1876425"/>
            <a:ext cx="304800" cy="190500"/>
          </a:xfrm>
          <a:prstGeom prst="rect">
            <a:avLst/>
          </a:prstGeom>
        </p:spPr>
      </p:pic>
      <p:pic>
        <p:nvPicPr>
          <p:cNvPr id="14" name="Picture 13" descr="image.png"/>
          <p:cNvPicPr>
            <a:picLocks noChangeAspect="1"/>
          </p:cNvPicPr>
          <p:nvPr/>
        </p:nvPicPr>
        <p:blipFill>
          <a:blip r:embed="rId11"/>
          <a:stretch>
            <a:fillRect/>
          </a:stretch>
        </p:blipFill>
        <p:spPr>
          <a:xfrm>
            <a:off x="666750" y="2371725"/>
            <a:ext cx="304800" cy="190500"/>
          </a:xfrm>
          <a:prstGeom prst="rect">
            <a:avLst/>
          </a:prstGeom>
        </p:spPr>
      </p:pic>
      <p:pic>
        <p:nvPicPr>
          <p:cNvPr id="15" name="Picture 14" descr="image.png"/>
          <p:cNvPicPr>
            <a:picLocks noChangeAspect="1"/>
          </p:cNvPicPr>
          <p:nvPr/>
        </p:nvPicPr>
        <p:blipFill>
          <a:blip r:embed="rId12"/>
          <a:stretch>
            <a:fillRect/>
          </a:stretch>
        </p:blipFill>
        <p:spPr>
          <a:xfrm>
            <a:off x="6286500" y="2371725"/>
            <a:ext cx="304800" cy="190500"/>
          </a:xfrm>
          <a:prstGeom prst="rect">
            <a:avLst/>
          </a:prstGeom>
        </p:spPr>
      </p:pic>
      <p:sp>
        <p:nvSpPr>
          <p:cNvPr id="16" name="TextBox 15"/>
          <p:cNvSpPr txBox="1"/>
          <p:nvPr/>
        </p:nvSpPr>
        <p:spPr>
          <a:xfrm>
            <a:off x="1066800" y="1876425"/>
            <a:ext cx="4248150" cy="185737"/>
          </a:xfrm>
          <a:prstGeom prst="rect">
            <a:avLst/>
          </a:prstGeom>
          <a:noFill/>
        </p:spPr>
        <p:txBody>
          <a:bodyPr wrap="square" lIns="0" rIns="0" tIns="0" bIns="0" anchor="t">
            <a:spAutoFit/>
          </a:bodyPr>
          <a:lstStyle/>
          <a:p>
            <a:pPr algn="l">
              <a:lnSpc>
                <a:spcPts val="1462"/>
              </a:lnSpc>
            </a:pPr>
            <a:r>
              <a:rPr b="0" sz="975" i="0" u="none">
                <a:solidFill>
                  <a:srgbClr val="0F172A"/>
                </a:solidFill>
                <a:latin typeface="Inter SemiBold"/>
              </a:rPr>
              <a:t>Which medical conditions have highest average &amp; total billing amounts?</a:t>
            </a:r>
          </a:p>
        </p:txBody>
      </p:sp>
      <p:sp>
        <p:nvSpPr>
          <p:cNvPr id="17" name="TextBox 16"/>
          <p:cNvSpPr txBox="1"/>
          <p:nvPr/>
        </p:nvSpPr>
        <p:spPr>
          <a:xfrm>
            <a:off x="6705600" y="1876425"/>
            <a:ext cx="4229100" cy="185737"/>
          </a:xfrm>
          <a:prstGeom prst="rect">
            <a:avLst/>
          </a:prstGeom>
          <a:noFill/>
        </p:spPr>
        <p:txBody>
          <a:bodyPr wrap="square" lIns="0" rIns="0" tIns="0" bIns="0" anchor="t">
            <a:spAutoFit/>
          </a:bodyPr>
          <a:lstStyle/>
          <a:p>
            <a:pPr algn="l">
              <a:lnSpc>
                <a:spcPts val="1462"/>
              </a:lnSpc>
            </a:pPr>
            <a:r>
              <a:rPr b="0" sz="975" i="0" u="none">
                <a:solidFill>
                  <a:srgbClr val="0F172A"/>
                </a:solidFill>
                <a:latin typeface="Inter SemiBold"/>
              </a:rPr>
              <a:t>How do billing amounts and stay duration vary across admission types?</a:t>
            </a:r>
          </a:p>
        </p:txBody>
      </p:sp>
      <p:sp>
        <p:nvSpPr>
          <p:cNvPr id="18" name="TextBox 17"/>
          <p:cNvSpPr txBox="1"/>
          <p:nvPr/>
        </p:nvSpPr>
        <p:spPr>
          <a:xfrm>
            <a:off x="1085850" y="2371725"/>
            <a:ext cx="3667125" cy="185737"/>
          </a:xfrm>
          <a:prstGeom prst="rect">
            <a:avLst/>
          </a:prstGeom>
          <a:noFill/>
        </p:spPr>
        <p:txBody>
          <a:bodyPr wrap="square" lIns="0" rIns="0" tIns="0" bIns="0" anchor="t">
            <a:spAutoFit/>
          </a:bodyPr>
          <a:lstStyle/>
          <a:p>
            <a:pPr algn="l">
              <a:lnSpc>
                <a:spcPts val="1462"/>
              </a:lnSpc>
            </a:pPr>
            <a:r>
              <a:rPr b="0" sz="975" i="0" u="none">
                <a:solidFill>
                  <a:srgbClr val="0F172A"/>
                </a:solidFill>
                <a:latin typeface="Inter SemiBold"/>
              </a:rPr>
              <a:t>Which hospitals show higher average billing and longer stays?</a:t>
            </a:r>
          </a:p>
        </p:txBody>
      </p:sp>
      <p:sp>
        <p:nvSpPr>
          <p:cNvPr id="19" name="TextBox 18"/>
          <p:cNvSpPr txBox="1"/>
          <p:nvPr/>
        </p:nvSpPr>
        <p:spPr>
          <a:xfrm>
            <a:off x="6705600" y="2371725"/>
            <a:ext cx="3714750" cy="185737"/>
          </a:xfrm>
          <a:prstGeom prst="rect">
            <a:avLst/>
          </a:prstGeom>
          <a:noFill/>
        </p:spPr>
        <p:txBody>
          <a:bodyPr wrap="square" lIns="0" rIns="0" tIns="0" bIns="0" anchor="t">
            <a:spAutoFit/>
          </a:bodyPr>
          <a:lstStyle/>
          <a:p>
            <a:pPr algn="l">
              <a:lnSpc>
                <a:spcPts val="1462"/>
              </a:lnSpc>
            </a:pPr>
            <a:r>
              <a:rPr b="0" sz="975" i="0" u="none">
                <a:solidFill>
                  <a:srgbClr val="0F172A"/>
                </a:solidFill>
                <a:latin typeface="Inter SemiBold"/>
              </a:rPr>
              <a:t>How do billing patterns vary across insurance and age groups?</a:t>
            </a:r>
          </a:p>
        </p:txBody>
      </p:sp>
      <p:sp>
        <p:nvSpPr>
          <p:cNvPr id="20" name="TextBox 19"/>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Objective &amp; Core Analytical Questions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5405437" cy="2057400"/>
          </a:xfrm>
          <a:prstGeom prst="rect">
            <a:avLst/>
          </a:prstGeom>
        </p:spPr>
      </p:pic>
      <p:pic>
        <p:nvPicPr>
          <p:cNvPr id="4" name="Picture 3" descr="image.png"/>
          <p:cNvPicPr>
            <a:picLocks noChangeAspect="1"/>
          </p:cNvPicPr>
          <p:nvPr/>
        </p:nvPicPr>
        <p:blipFill>
          <a:blip r:embed="rId4"/>
          <a:stretch>
            <a:fillRect/>
          </a:stretch>
        </p:blipFill>
        <p:spPr>
          <a:xfrm>
            <a:off x="6262687" y="1000125"/>
            <a:ext cx="5405437" cy="2057400"/>
          </a:xfrm>
          <a:prstGeom prst="rect">
            <a:avLst/>
          </a:prstGeom>
        </p:spPr>
      </p:pic>
      <p:pic>
        <p:nvPicPr>
          <p:cNvPr id="5" name="Picture 4" descr="image.png"/>
          <p:cNvPicPr>
            <a:picLocks noChangeAspect="1"/>
          </p:cNvPicPr>
          <p:nvPr/>
        </p:nvPicPr>
        <p:blipFill>
          <a:blip r:embed="rId5"/>
          <a:stretch>
            <a:fillRect/>
          </a:stretch>
        </p:blipFill>
        <p:spPr>
          <a:xfrm>
            <a:off x="6481762" y="1657350"/>
            <a:ext cx="2412206" cy="876300"/>
          </a:xfrm>
          <a:prstGeom prst="rect">
            <a:avLst/>
          </a:prstGeom>
        </p:spPr>
      </p:pic>
      <p:pic>
        <p:nvPicPr>
          <p:cNvPr id="6" name="Picture 5" descr="image.png"/>
          <p:cNvPicPr>
            <a:picLocks noChangeAspect="1"/>
          </p:cNvPicPr>
          <p:nvPr/>
        </p:nvPicPr>
        <p:blipFill>
          <a:blip r:embed="rId6"/>
          <a:stretch>
            <a:fillRect/>
          </a:stretch>
        </p:blipFill>
        <p:spPr>
          <a:xfrm>
            <a:off x="9036843" y="1657350"/>
            <a:ext cx="2412206" cy="876300"/>
          </a:xfrm>
          <a:prstGeom prst="rect">
            <a:avLst/>
          </a:prstGeom>
        </p:spPr>
      </p:pic>
      <p:pic>
        <p:nvPicPr>
          <p:cNvPr id="7" name="Picture 6" descr="image.png"/>
          <p:cNvPicPr>
            <a:picLocks noChangeAspect="1"/>
          </p:cNvPicPr>
          <p:nvPr/>
        </p:nvPicPr>
        <p:blipFill>
          <a:blip r:embed="rId7"/>
          <a:stretch>
            <a:fillRect/>
          </a:stretch>
        </p:blipFill>
        <p:spPr>
          <a:xfrm>
            <a:off x="523875" y="6410325"/>
            <a:ext cx="12192000" cy="257175"/>
          </a:xfrm>
          <a:prstGeom prst="rect">
            <a:avLst/>
          </a:prstGeom>
        </p:spPr>
      </p:pic>
      <p:sp>
        <p:nvSpPr>
          <p:cNvPr id="8" name="TextBox 7"/>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9" name="TextBox 8"/>
          <p:cNvSpPr txBox="1"/>
          <p:nvPr/>
        </p:nvSpPr>
        <p:spPr>
          <a:xfrm>
            <a:off x="123729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4</a:t>
            </a:r>
          </a:p>
        </p:txBody>
      </p:sp>
      <p:sp>
        <p:nvSpPr>
          <p:cNvPr id="10" name="TextBox 9"/>
          <p:cNvSpPr txBox="1"/>
          <p:nvPr/>
        </p:nvSpPr>
        <p:spPr>
          <a:xfrm>
            <a:off x="1000125" y="1219200"/>
            <a:ext cx="4945618"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Dataset Architecture</a:t>
            </a:r>
          </a:p>
        </p:txBody>
      </p:sp>
      <p:sp>
        <p:nvSpPr>
          <p:cNvPr id="11" name="TextBox 10"/>
          <p:cNvSpPr txBox="1"/>
          <p:nvPr/>
        </p:nvSpPr>
        <p:spPr>
          <a:xfrm>
            <a:off x="742950" y="1562100"/>
            <a:ext cx="4967287" cy="214312"/>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Source Table:</a:t>
            </a:r>
            <a:r>
              <a:rPr b="0" sz="1125" i="0" u="none">
                <a:solidFill>
                  <a:srgbClr val="475569"/>
                </a:solidFill>
                <a:latin typeface="Inter"/>
              </a:rPr>
              <a:t> </a:t>
            </a:r>
            <a:r>
              <a:rPr b="0" sz="1125" i="0" u="none">
                <a:solidFill>
                  <a:srgbClr val="475569"/>
                </a:solidFill>
                <a:latin typeface="Inter"/>
              </a:rPr>
              <a:t>healthcare_staging</a:t>
            </a:r>
          </a:p>
        </p:txBody>
      </p:sp>
      <p:sp>
        <p:nvSpPr>
          <p:cNvPr id="12" name="TextBox 11"/>
          <p:cNvSpPr txBox="1"/>
          <p:nvPr/>
        </p:nvSpPr>
        <p:spPr>
          <a:xfrm>
            <a:off x="742950" y="1776412"/>
            <a:ext cx="4967287" cy="214312"/>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Sample Size:</a:t>
            </a:r>
            <a:r>
              <a:rPr b="0" sz="1125" i="0" u="none">
                <a:solidFill>
                  <a:srgbClr val="475569"/>
                </a:solidFill>
                <a:latin typeface="Inter"/>
              </a:rPr>
              <a:t> 1,000 comprehensive patient admission records</a:t>
            </a:r>
          </a:p>
        </p:txBody>
      </p:sp>
      <p:sp>
        <p:nvSpPr>
          <p:cNvPr id="13" name="TextBox 12"/>
          <p:cNvSpPr txBox="1"/>
          <p:nvPr/>
        </p:nvSpPr>
        <p:spPr>
          <a:xfrm>
            <a:off x="742950" y="1990725"/>
            <a:ext cx="4967287" cy="428625"/>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Timeline:</a:t>
            </a:r>
            <a:r>
              <a:rPr b="0" sz="1125" i="0" u="none">
                <a:solidFill>
                  <a:srgbClr val="475569"/>
                </a:solidFill>
                <a:latin typeface="Inter"/>
              </a:rPr>
              <a:t> Spanning historical admissions from January 2024 to December 2026</a:t>
            </a:r>
          </a:p>
        </p:txBody>
      </p:sp>
      <p:sp>
        <p:nvSpPr>
          <p:cNvPr id="14" name="TextBox 13"/>
          <p:cNvSpPr txBox="1"/>
          <p:nvPr/>
        </p:nvSpPr>
        <p:spPr>
          <a:xfrm>
            <a:off x="742950" y="2495550"/>
            <a:ext cx="4967287" cy="342900"/>
          </a:xfrm>
          <a:prstGeom prst="rect">
            <a:avLst/>
          </a:prstGeom>
          <a:noFill/>
        </p:spPr>
        <p:txBody>
          <a:bodyPr wrap="square" lIns="0" rIns="0" tIns="0" bIns="0" anchor="t">
            <a:spAutoFit/>
          </a:bodyPr>
          <a:lstStyle/>
          <a:p>
            <a:pPr algn="l">
              <a:lnSpc>
                <a:spcPts val="1350"/>
              </a:lnSpc>
            </a:pPr>
            <a:r>
              <a:rPr b="0" sz="900" i="0" u="none">
                <a:solidFill>
                  <a:srgbClr val="64748B"/>
                </a:solidFill>
                <a:latin typeface="Inter"/>
              </a:rPr>
              <a:t>Structured for multi-dimensional aggregation across clinical, operational, and financial dimensions.</a:t>
            </a:r>
          </a:p>
        </p:txBody>
      </p:sp>
      <p:sp>
        <p:nvSpPr>
          <p:cNvPr id="15" name="TextBox 14"/>
          <p:cNvSpPr txBox="1"/>
          <p:nvPr/>
        </p:nvSpPr>
        <p:spPr>
          <a:xfrm>
            <a:off x="6777037" y="1219200"/>
            <a:ext cx="4905613"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Network Scale Summary</a:t>
            </a:r>
          </a:p>
        </p:txBody>
      </p:sp>
      <p:pic>
        <p:nvPicPr>
          <p:cNvPr id="16" name="Picture 15" descr="image.png"/>
          <p:cNvPicPr>
            <a:picLocks noChangeAspect="1"/>
          </p:cNvPicPr>
          <p:nvPr/>
        </p:nvPicPr>
        <p:blipFill>
          <a:blip r:embed="rId8"/>
          <a:stretch>
            <a:fillRect/>
          </a:stretch>
        </p:blipFill>
        <p:spPr>
          <a:xfrm>
            <a:off x="742950" y="1243012"/>
            <a:ext cx="161925" cy="180975"/>
          </a:xfrm>
          <a:prstGeom prst="rect">
            <a:avLst/>
          </a:prstGeom>
        </p:spPr>
      </p:pic>
      <p:pic>
        <p:nvPicPr>
          <p:cNvPr id="17" name="Picture 16" descr="image.png"/>
          <p:cNvPicPr>
            <a:picLocks noChangeAspect="1"/>
          </p:cNvPicPr>
          <p:nvPr/>
        </p:nvPicPr>
        <p:blipFill>
          <a:blip r:embed="rId9"/>
          <a:stretch>
            <a:fillRect/>
          </a:stretch>
        </p:blipFill>
        <p:spPr>
          <a:xfrm>
            <a:off x="6481762" y="1243012"/>
            <a:ext cx="200025" cy="180975"/>
          </a:xfrm>
          <a:prstGeom prst="rect">
            <a:avLst/>
          </a:prstGeom>
        </p:spPr>
      </p:pic>
      <p:sp>
        <p:nvSpPr>
          <p:cNvPr id="18" name="TextBox 17"/>
          <p:cNvSpPr txBox="1"/>
          <p:nvPr/>
        </p:nvSpPr>
        <p:spPr>
          <a:xfrm>
            <a:off x="6662737" y="1838325"/>
            <a:ext cx="2050256" cy="323850"/>
          </a:xfrm>
          <a:prstGeom prst="rect">
            <a:avLst/>
          </a:prstGeom>
          <a:noFill/>
        </p:spPr>
        <p:txBody>
          <a:bodyPr wrap="square" lIns="0" rIns="0" tIns="0" bIns="0" anchor="t">
            <a:spAutoFit/>
          </a:bodyPr>
          <a:lstStyle/>
          <a:p>
            <a:pPr algn="ctr"/>
            <a:r>
              <a:rPr b="1" sz="2100" i="0" u="none">
                <a:solidFill>
                  <a:srgbClr val="0EA5E9"/>
                </a:solidFill>
                <a:latin typeface="Inter"/>
              </a:rPr>
              <a:t>1,000</a:t>
            </a:r>
          </a:p>
        </p:txBody>
      </p:sp>
      <p:sp>
        <p:nvSpPr>
          <p:cNvPr id="19" name="TextBox 18"/>
          <p:cNvSpPr txBox="1"/>
          <p:nvPr/>
        </p:nvSpPr>
        <p:spPr>
          <a:xfrm>
            <a:off x="6662737" y="2200275"/>
            <a:ext cx="2050256" cy="152400"/>
          </a:xfrm>
          <a:prstGeom prst="rect">
            <a:avLst/>
          </a:prstGeom>
          <a:noFill/>
        </p:spPr>
        <p:txBody>
          <a:bodyPr wrap="square" lIns="0" rIns="0" tIns="0" bIns="0" anchor="t">
            <a:spAutoFit/>
          </a:bodyPr>
          <a:lstStyle/>
          <a:p>
            <a:pPr algn="ctr"/>
            <a:r>
              <a:rPr b="0" sz="975" i="0" u="none">
                <a:solidFill>
                  <a:srgbClr val="64748B"/>
                </a:solidFill>
                <a:latin typeface="Inter SemiBold"/>
              </a:rPr>
              <a:t>Total Patient Admissions</a:t>
            </a:r>
          </a:p>
        </p:txBody>
      </p:sp>
      <p:sp>
        <p:nvSpPr>
          <p:cNvPr id="20" name="TextBox 19"/>
          <p:cNvSpPr txBox="1"/>
          <p:nvPr/>
        </p:nvSpPr>
        <p:spPr>
          <a:xfrm>
            <a:off x="9217818" y="1838325"/>
            <a:ext cx="2050256" cy="323850"/>
          </a:xfrm>
          <a:prstGeom prst="rect">
            <a:avLst/>
          </a:prstGeom>
          <a:noFill/>
        </p:spPr>
        <p:txBody>
          <a:bodyPr wrap="square" lIns="0" rIns="0" tIns="0" bIns="0" anchor="t">
            <a:spAutoFit/>
          </a:bodyPr>
          <a:lstStyle/>
          <a:p>
            <a:pPr algn="ctr"/>
            <a:r>
              <a:rPr b="1" sz="2100" i="0" u="none">
                <a:solidFill>
                  <a:srgbClr val="10B981"/>
                </a:solidFill>
                <a:latin typeface="Inter"/>
              </a:rPr>
              <a:t>$24.86M</a:t>
            </a:r>
          </a:p>
        </p:txBody>
      </p:sp>
      <p:sp>
        <p:nvSpPr>
          <p:cNvPr id="21" name="TextBox 20"/>
          <p:cNvSpPr txBox="1"/>
          <p:nvPr/>
        </p:nvSpPr>
        <p:spPr>
          <a:xfrm>
            <a:off x="9217818" y="2200275"/>
            <a:ext cx="2050256" cy="152400"/>
          </a:xfrm>
          <a:prstGeom prst="rect">
            <a:avLst/>
          </a:prstGeom>
          <a:noFill/>
        </p:spPr>
        <p:txBody>
          <a:bodyPr wrap="square" lIns="0" rIns="0" tIns="0" bIns="0" anchor="t">
            <a:spAutoFit/>
          </a:bodyPr>
          <a:lstStyle/>
          <a:p>
            <a:pPr algn="ctr"/>
            <a:r>
              <a:rPr b="0" sz="975" i="0" u="none">
                <a:solidFill>
                  <a:srgbClr val="64748B"/>
                </a:solidFill>
                <a:latin typeface="Inter SemiBold"/>
              </a:rPr>
              <a:t>Total Revenue Generated</a:t>
            </a:r>
          </a:p>
        </p:txBody>
      </p:sp>
      <p:sp>
        <p:nvSpPr>
          <p:cNvPr id="22" name="TextBox 21"/>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Dataset Overview &amp; Core Scale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5405437" cy="2543175"/>
          </a:xfrm>
          <a:prstGeom prst="rect">
            <a:avLst/>
          </a:prstGeom>
        </p:spPr>
      </p:pic>
      <p:pic>
        <p:nvPicPr>
          <p:cNvPr id="4" name="Picture 3" descr="image.png"/>
          <p:cNvPicPr>
            <a:picLocks noChangeAspect="1"/>
          </p:cNvPicPr>
          <p:nvPr/>
        </p:nvPicPr>
        <p:blipFill>
          <a:blip r:embed="rId4"/>
          <a:stretch>
            <a:fillRect/>
          </a:stretch>
        </p:blipFill>
        <p:spPr>
          <a:xfrm>
            <a:off x="6262687" y="1000125"/>
            <a:ext cx="5405437" cy="2543175"/>
          </a:xfrm>
          <a:prstGeom prst="rect">
            <a:avLst/>
          </a:prstGeom>
        </p:spPr>
      </p:pic>
      <p:pic>
        <p:nvPicPr>
          <p:cNvPr id="5" name="Picture 4" descr="image.png"/>
          <p:cNvPicPr>
            <a:picLocks noChangeAspect="1"/>
          </p:cNvPicPr>
          <p:nvPr/>
        </p:nvPicPr>
        <p:blipFill>
          <a:blip r:embed="rId5"/>
          <a:stretch>
            <a:fillRect/>
          </a:stretch>
        </p:blipFill>
        <p:spPr>
          <a:xfrm>
            <a:off x="523875" y="6410325"/>
            <a:ext cx="12192000" cy="257175"/>
          </a:xfrm>
          <a:prstGeom prst="rect">
            <a:avLst/>
          </a:prstGeom>
        </p:spPr>
      </p:pic>
      <p:sp>
        <p:nvSpPr>
          <p:cNvPr id="6" name="TextBox 5"/>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7" name="TextBox 6"/>
          <p:cNvSpPr txBox="1"/>
          <p:nvPr/>
        </p:nvSpPr>
        <p:spPr>
          <a:xfrm>
            <a:off x="123729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5</a:t>
            </a:r>
          </a:p>
        </p:txBody>
      </p:sp>
      <p:sp>
        <p:nvSpPr>
          <p:cNvPr id="8" name="TextBox 7"/>
          <p:cNvSpPr txBox="1"/>
          <p:nvPr/>
        </p:nvSpPr>
        <p:spPr>
          <a:xfrm>
            <a:off x="1038225" y="1219200"/>
            <a:ext cx="4905613"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Data Cleansing Actions</a:t>
            </a:r>
          </a:p>
        </p:txBody>
      </p:sp>
      <p:sp>
        <p:nvSpPr>
          <p:cNvPr id="9" name="TextBox 8"/>
          <p:cNvSpPr txBox="1"/>
          <p:nvPr/>
        </p:nvSpPr>
        <p:spPr>
          <a:xfrm>
            <a:off x="6805612" y="1219200"/>
            <a:ext cx="4875609"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SQL Toolkit Applied</a:t>
            </a:r>
          </a:p>
        </p:txBody>
      </p:sp>
      <p:sp>
        <p:nvSpPr>
          <p:cNvPr id="10" name="TextBox 9"/>
          <p:cNvSpPr txBox="1"/>
          <p:nvPr/>
        </p:nvSpPr>
        <p:spPr>
          <a:xfrm>
            <a:off x="6481762" y="2190750"/>
            <a:ext cx="4967287" cy="371475"/>
          </a:xfrm>
          <a:prstGeom prst="rect">
            <a:avLst/>
          </a:prstGeom>
          <a:noFill/>
        </p:spPr>
        <p:txBody>
          <a:bodyPr wrap="square" lIns="0" rIns="0" tIns="0" bIns="0" anchor="t">
            <a:spAutoFit/>
          </a:bodyPr>
          <a:lstStyle/>
          <a:p>
            <a:pPr algn="l">
              <a:lnSpc>
                <a:spcPts val="1462"/>
              </a:lnSpc>
            </a:pPr>
            <a:r>
              <a:rPr b="0" sz="975" i="0" u="none">
                <a:solidFill>
                  <a:srgbClr val="64748B"/>
                </a:solidFill>
                <a:latin typeface="Inter"/>
              </a:rPr>
              <a:t>Pipeline engineered to guarantee data integrity before executing operational KPI calculations.</a:t>
            </a:r>
          </a:p>
        </p:txBody>
      </p:sp>
      <p:pic>
        <p:nvPicPr>
          <p:cNvPr id="11" name="Picture 10" descr="image.png"/>
          <p:cNvPicPr>
            <a:picLocks noChangeAspect="1"/>
          </p:cNvPicPr>
          <p:nvPr/>
        </p:nvPicPr>
        <p:blipFill>
          <a:blip r:embed="rId6"/>
          <a:stretch>
            <a:fillRect/>
          </a:stretch>
        </p:blipFill>
        <p:spPr>
          <a:xfrm>
            <a:off x="742950" y="1243012"/>
            <a:ext cx="200025" cy="180975"/>
          </a:xfrm>
          <a:prstGeom prst="rect">
            <a:avLst/>
          </a:prstGeom>
        </p:spPr>
      </p:pic>
      <p:sp>
        <p:nvSpPr>
          <p:cNvPr id="12" name="TextBox 11"/>
          <p:cNvSpPr txBox="1"/>
          <p:nvPr/>
        </p:nvSpPr>
        <p:spPr>
          <a:xfrm>
            <a:off x="838200" y="1712118"/>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3" name="TextBox 12"/>
          <p:cNvSpPr txBox="1"/>
          <p:nvPr/>
        </p:nvSpPr>
        <p:spPr>
          <a:xfrm>
            <a:off x="914400" y="1714500"/>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Removed blank rows and exact duplicate admissions</a:t>
            </a:r>
          </a:p>
        </p:txBody>
      </p:sp>
      <p:sp>
        <p:nvSpPr>
          <p:cNvPr id="14" name="TextBox 13"/>
          <p:cNvSpPr txBox="1"/>
          <p:nvPr/>
        </p:nvSpPr>
        <p:spPr>
          <a:xfrm>
            <a:off x="838200" y="1983581"/>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5" name="TextBox 14"/>
          <p:cNvSpPr txBox="1"/>
          <p:nvPr/>
        </p:nvSpPr>
        <p:spPr>
          <a:xfrm>
            <a:off x="914400" y="1985962"/>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Trimmed whitespace and standardized categorical text values</a:t>
            </a:r>
          </a:p>
        </p:txBody>
      </p:sp>
      <p:sp>
        <p:nvSpPr>
          <p:cNvPr id="16" name="TextBox 15"/>
          <p:cNvSpPr txBox="1"/>
          <p:nvPr/>
        </p:nvSpPr>
        <p:spPr>
          <a:xfrm>
            <a:off x="838200" y="2255043"/>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7" name="TextBox 16"/>
          <p:cNvSpPr txBox="1"/>
          <p:nvPr/>
        </p:nvSpPr>
        <p:spPr>
          <a:xfrm>
            <a:off x="914400" y="2257425"/>
            <a:ext cx="4795837" cy="428625"/>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Corrected negative billing anomalies and validated patient age boundaries</a:t>
            </a:r>
          </a:p>
        </p:txBody>
      </p:sp>
      <p:sp>
        <p:nvSpPr>
          <p:cNvPr id="18" name="TextBox 17"/>
          <p:cNvSpPr txBox="1"/>
          <p:nvPr/>
        </p:nvSpPr>
        <p:spPr>
          <a:xfrm>
            <a:off x="838200" y="2740818"/>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9" name="TextBox 18"/>
          <p:cNvSpPr txBox="1"/>
          <p:nvPr/>
        </p:nvSpPr>
        <p:spPr>
          <a:xfrm>
            <a:off x="914400" y="2743200"/>
            <a:ext cx="4795837" cy="428625"/>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Parsed and formatted timestamp and date fields for precise duration queries</a:t>
            </a:r>
          </a:p>
        </p:txBody>
      </p:sp>
      <p:pic>
        <p:nvPicPr>
          <p:cNvPr id="20" name="Picture 19" descr="image.png"/>
          <p:cNvPicPr>
            <a:picLocks noChangeAspect="1"/>
          </p:cNvPicPr>
          <p:nvPr/>
        </p:nvPicPr>
        <p:blipFill>
          <a:blip r:embed="rId7"/>
          <a:stretch>
            <a:fillRect/>
          </a:stretch>
        </p:blipFill>
        <p:spPr>
          <a:xfrm>
            <a:off x="6481762" y="1243012"/>
            <a:ext cx="228600" cy="180975"/>
          </a:xfrm>
          <a:prstGeom prst="rect">
            <a:avLst/>
          </a:prstGeom>
        </p:spPr>
      </p:pic>
      <p:pic>
        <p:nvPicPr>
          <p:cNvPr id="21" name="Picture 20" descr="image.png"/>
          <p:cNvPicPr>
            <a:picLocks noChangeAspect="1"/>
          </p:cNvPicPr>
          <p:nvPr/>
        </p:nvPicPr>
        <p:blipFill>
          <a:blip r:embed="rId8"/>
          <a:stretch>
            <a:fillRect/>
          </a:stretch>
        </p:blipFill>
        <p:spPr>
          <a:xfrm>
            <a:off x="6481762" y="1638300"/>
            <a:ext cx="1009650" cy="190500"/>
          </a:xfrm>
          <a:prstGeom prst="rect">
            <a:avLst/>
          </a:prstGeom>
        </p:spPr>
      </p:pic>
      <p:pic>
        <p:nvPicPr>
          <p:cNvPr id="22" name="Picture 21" descr="image.png"/>
          <p:cNvPicPr>
            <a:picLocks noChangeAspect="1"/>
          </p:cNvPicPr>
          <p:nvPr/>
        </p:nvPicPr>
        <p:blipFill>
          <a:blip r:embed="rId9"/>
          <a:stretch>
            <a:fillRect/>
          </a:stretch>
        </p:blipFill>
        <p:spPr>
          <a:xfrm>
            <a:off x="7548562" y="1638300"/>
            <a:ext cx="990600" cy="190500"/>
          </a:xfrm>
          <a:prstGeom prst="rect">
            <a:avLst/>
          </a:prstGeom>
        </p:spPr>
      </p:pic>
      <p:pic>
        <p:nvPicPr>
          <p:cNvPr id="23" name="Picture 22" descr="image.png"/>
          <p:cNvPicPr>
            <a:picLocks noChangeAspect="1"/>
          </p:cNvPicPr>
          <p:nvPr/>
        </p:nvPicPr>
        <p:blipFill>
          <a:blip r:embed="rId10"/>
          <a:stretch>
            <a:fillRect/>
          </a:stretch>
        </p:blipFill>
        <p:spPr>
          <a:xfrm>
            <a:off x="8596312" y="1638300"/>
            <a:ext cx="971550" cy="190500"/>
          </a:xfrm>
          <a:prstGeom prst="rect">
            <a:avLst/>
          </a:prstGeom>
        </p:spPr>
      </p:pic>
      <p:pic>
        <p:nvPicPr>
          <p:cNvPr id="24" name="Picture 23" descr="image.png"/>
          <p:cNvPicPr>
            <a:picLocks noChangeAspect="1"/>
          </p:cNvPicPr>
          <p:nvPr/>
        </p:nvPicPr>
        <p:blipFill>
          <a:blip r:embed="rId11"/>
          <a:stretch>
            <a:fillRect/>
          </a:stretch>
        </p:blipFill>
        <p:spPr>
          <a:xfrm>
            <a:off x="9625012" y="1638300"/>
            <a:ext cx="1095375" cy="190500"/>
          </a:xfrm>
          <a:prstGeom prst="rect">
            <a:avLst/>
          </a:prstGeom>
        </p:spPr>
      </p:pic>
      <p:pic>
        <p:nvPicPr>
          <p:cNvPr id="25" name="Picture 24" descr="image.png"/>
          <p:cNvPicPr>
            <a:picLocks noChangeAspect="1"/>
          </p:cNvPicPr>
          <p:nvPr/>
        </p:nvPicPr>
        <p:blipFill>
          <a:blip r:embed="rId12"/>
          <a:stretch>
            <a:fillRect/>
          </a:stretch>
        </p:blipFill>
        <p:spPr>
          <a:xfrm>
            <a:off x="6481762" y="1885950"/>
            <a:ext cx="695325" cy="190500"/>
          </a:xfrm>
          <a:prstGeom prst="rect">
            <a:avLst/>
          </a:prstGeom>
        </p:spPr>
      </p:pic>
      <p:pic>
        <p:nvPicPr>
          <p:cNvPr id="26" name="Picture 25" descr="image.png"/>
          <p:cNvPicPr>
            <a:picLocks noChangeAspect="1"/>
          </p:cNvPicPr>
          <p:nvPr/>
        </p:nvPicPr>
        <p:blipFill>
          <a:blip r:embed="rId13"/>
          <a:stretch>
            <a:fillRect/>
          </a:stretch>
        </p:blipFill>
        <p:spPr>
          <a:xfrm>
            <a:off x="7234237" y="1885950"/>
            <a:ext cx="1457325" cy="190500"/>
          </a:xfrm>
          <a:prstGeom prst="rect">
            <a:avLst/>
          </a:prstGeom>
        </p:spPr>
      </p:pic>
      <p:pic>
        <p:nvPicPr>
          <p:cNvPr id="27" name="Picture 26" descr="image.png"/>
          <p:cNvPicPr>
            <a:picLocks noChangeAspect="1"/>
          </p:cNvPicPr>
          <p:nvPr/>
        </p:nvPicPr>
        <p:blipFill>
          <a:blip r:embed="rId14"/>
          <a:stretch>
            <a:fillRect/>
          </a:stretch>
        </p:blipFill>
        <p:spPr>
          <a:xfrm>
            <a:off x="8748712" y="1885950"/>
            <a:ext cx="1209675" cy="190500"/>
          </a:xfrm>
          <a:prstGeom prst="rect">
            <a:avLst/>
          </a:prstGeom>
        </p:spPr>
      </p:pic>
      <p:sp>
        <p:nvSpPr>
          <p:cNvPr id="28" name="TextBox 27"/>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Data Preparation &amp; Advanced SQL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11144250" cy="2781300"/>
          </a:xfrm>
          <a:prstGeom prst="rect">
            <a:avLst/>
          </a:prstGeom>
        </p:spPr>
      </p:pic>
      <p:pic>
        <p:nvPicPr>
          <p:cNvPr id="4" name="Picture 3" descr="image.png"/>
          <p:cNvPicPr>
            <a:picLocks noChangeAspect="1"/>
          </p:cNvPicPr>
          <p:nvPr/>
        </p:nvPicPr>
        <p:blipFill>
          <a:blip r:embed="rId4"/>
          <a:stretch>
            <a:fillRect/>
          </a:stretch>
        </p:blipFill>
        <p:spPr>
          <a:xfrm>
            <a:off x="523875" y="6410325"/>
            <a:ext cx="12192000" cy="257175"/>
          </a:xfrm>
          <a:prstGeom prst="rect">
            <a:avLst/>
          </a:prstGeom>
        </p:spPr>
      </p:pic>
      <p:sp>
        <p:nvSpPr>
          <p:cNvPr id="5" name="TextBox 4"/>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6" name="TextBox 5"/>
          <p:cNvSpPr txBox="1"/>
          <p:nvPr/>
        </p:nvSpPr>
        <p:spPr>
          <a:xfrm>
            <a:off x="123729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6</a:t>
            </a:r>
          </a:p>
        </p:txBody>
      </p:sp>
      <p:sp>
        <p:nvSpPr>
          <p:cNvPr id="7" name="TextBox 6"/>
          <p:cNvSpPr txBox="1"/>
          <p:nvPr/>
        </p:nvSpPr>
        <p:spPr>
          <a:xfrm>
            <a:off x="523875" y="1481137"/>
            <a:ext cx="5405437" cy="200025"/>
          </a:xfrm>
          <a:prstGeom prst="rect">
            <a:avLst/>
          </a:prstGeom>
          <a:noFill/>
        </p:spPr>
        <p:txBody>
          <a:bodyPr wrap="square" lIns="0" rIns="0" tIns="0" bIns="0" anchor="t">
            <a:spAutoFit/>
          </a:bodyPr>
          <a:lstStyle/>
          <a:p>
            <a:pPr algn="l">
              <a:lnSpc>
                <a:spcPts val="1575"/>
              </a:lnSpc>
            </a:pPr>
            <a:r>
              <a:rPr b="0" sz="1050" i="0" u="none">
                <a:solidFill>
                  <a:srgbClr val="0EA5E9"/>
                </a:solidFill>
                <a:latin typeface="Inter SemiBold"/>
              </a:rPr>
              <a:t>RESEARCH QUESTION 1</a:t>
            </a:r>
          </a:p>
        </p:txBody>
      </p:sp>
      <p:sp>
        <p:nvSpPr>
          <p:cNvPr id="8" name="TextBox 7"/>
          <p:cNvSpPr txBox="1"/>
          <p:nvPr/>
        </p:nvSpPr>
        <p:spPr>
          <a:xfrm>
            <a:off x="523875" y="1738312"/>
            <a:ext cx="5675709" cy="476250"/>
          </a:xfrm>
          <a:prstGeom prst="rect">
            <a:avLst/>
          </a:prstGeom>
          <a:noFill/>
        </p:spPr>
        <p:txBody>
          <a:bodyPr wrap="square" lIns="0" rIns="0" tIns="0" bIns="0" anchor="t">
            <a:spAutoFit/>
          </a:bodyPr>
          <a:lstStyle/>
          <a:p>
            <a:pPr algn="l"/>
            <a:r>
              <a:rPr b="1" sz="1500" i="0" u="none">
                <a:solidFill>
                  <a:srgbClr val="0F172A"/>
                </a:solidFill>
                <a:latin typeface="Plus Jakarta Sans"/>
              </a:rPr>
              <a:t>Which medical conditions generate highest cumulative billing totals?</a:t>
            </a:r>
          </a:p>
        </p:txBody>
      </p:sp>
      <p:sp>
        <p:nvSpPr>
          <p:cNvPr id="9" name="TextBox 8"/>
          <p:cNvSpPr txBox="1"/>
          <p:nvPr/>
        </p:nvSpPr>
        <p:spPr>
          <a:xfrm>
            <a:off x="523875" y="2328862"/>
            <a:ext cx="5405437" cy="428625"/>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Key Finding:</a:t>
            </a:r>
            <a:r>
              <a:rPr b="0" sz="1125" i="0" u="none">
                <a:solidFill>
                  <a:srgbClr val="475569"/>
                </a:solidFill>
                <a:latin typeface="Inter"/>
              </a:rPr>
              <a:t> Conditions like </a:t>
            </a:r>
            <a:r>
              <a:rPr b="1" sz="1125" i="0" u="none">
                <a:solidFill>
                  <a:srgbClr val="475569"/>
                </a:solidFill>
                <a:latin typeface="Inter"/>
              </a:rPr>
              <a:t>Hypertension</a:t>
            </a:r>
            <a:r>
              <a:rPr b="0" sz="1125" i="0" u="none">
                <a:solidFill>
                  <a:srgbClr val="475569"/>
                </a:solidFill>
                <a:latin typeface="Inter"/>
              </a:rPr>
              <a:t> and </a:t>
            </a:r>
            <a:r>
              <a:rPr b="1" sz="1125" i="0" u="none">
                <a:solidFill>
                  <a:srgbClr val="475569"/>
                </a:solidFill>
                <a:latin typeface="Inter"/>
              </a:rPr>
              <a:t>Asthma</a:t>
            </a:r>
            <a:r>
              <a:rPr b="0" sz="1125" i="0" u="none">
                <a:solidFill>
                  <a:srgbClr val="475569"/>
                </a:solidFill>
                <a:latin typeface="Inter"/>
              </a:rPr>
              <a:t> lead overall hospital billing, each exceeding $3.0M in total revenue.</a:t>
            </a:r>
          </a:p>
        </p:txBody>
      </p:sp>
      <p:sp>
        <p:nvSpPr>
          <p:cNvPr id="10" name="TextBox 9"/>
          <p:cNvSpPr txBox="1"/>
          <p:nvPr/>
        </p:nvSpPr>
        <p:spPr>
          <a:xfrm>
            <a:off x="523875" y="2871787"/>
            <a:ext cx="5405437" cy="428625"/>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Takeaway:</a:t>
            </a:r>
            <a:r>
              <a:rPr b="0" sz="1125" i="0" u="none">
                <a:solidFill>
                  <a:srgbClr val="475569"/>
                </a:solidFill>
                <a:latin typeface="Inter"/>
              </a:rPr>
              <a:t> High total cost is driven primarily by large patient admission volume and ongoing chronic care rather than single high-cost surgical procedures.</a:t>
            </a:r>
          </a:p>
        </p:txBody>
      </p:sp>
      <p:sp>
        <p:nvSpPr>
          <p:cNvPr id="11" name="TextBox 10"/>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Medical Condition Billing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11144250" cy="3067050"/>
          </a:xfrm>
          <a:prstGeom prst="rect">
            <a:avLst/>
          </a:prstGeom>
        </p:spPr>
      </p:pic>
      <p:pic>
        <p:nvPicPr>
          <p:cNvPr id="4" name="Picture 3" descr="image.png"/>
          <p:cNvPicPr>
            <a:picLocks noChangeAspect="1"/>
          </p:cNvPicPr>
          <p:nvPr/>
        </p:nvPicPr>
        <p:blipFill>
          <a:blip r:embed="rId4"/>
          <a:stretch>
            <a:fillRect/>
          </a:stretch>
        </p:blipFill>
        <p:spPr>
          <a:xfrm>
            <a:off x="523875" y="1847850"/>
            <a:ext cx="5405437" cy="676275"/>
          </a:xfrm>
          <a:prstGeom prst="rect">
            <a:avLst/>
          </a:prstGeom>
        </p:spPr>
      </p:pic>
      <p:pic>
        <p:nvPicPr>
          <p:cNvPr id="5" name="Picture 4" descr="image.png"/>
          <p:cNvPicPr>
            <a:picLocks noChangeAspect="1"/>
          </p:cNvPicPr>
          <p:nvPr/>
        </p:nvPicPr>
        <p:blipFill>
          <a:blip r:embed="rId5"/>
          <a:stretch>
            <a:fillRect/>
          </a:stretch>
        </p:blipFill>
        <p:spPr>
          <a:xfrm>
            <a:off x="523875" y="2619375"/>
            <a:ext cx="5405437" cy="676275"/>
          </a:xfrm>
          <a:prstGeom prst="rect">
            <a:avLst/>
          </a:prstGeom>
        </p:spPr>
      </p:pic>
      <p:pic>
        <p:nvPicPr>
          <p:cNvPr id="6" name="Picture 5" descr="image.png"/>
          <p:cNvPicPr>
            <a:picLocks noChangeAspect="1"/>
          </p:cNvPicPr>
          <p:nvPr/>
        </p:nvPicPr>
        <p:blipFill>
          <a:blip r:embed="rId6"/>
          <a:stretch>
            <a:fillRect/>
          </a:stretch>
        </p:blipFill>
        <p:spPr>
          <a:xfrm>
            <a:off x="523875" y="3390900"/>
            <a:ext cx="5405437" cy="676275"/>
          </a:xfrm>
          <a:prstGeom prst="rect">
            <a:avLst/>
          </a:prstGeom>
        </p:spPr>
      </p:pic>
      <p:pic>
        <p:nvPicPr>
          <p:cNvPr id="7" name="Picture 6" descr="image.png"/>
          <p:cNvPicPr>
            <a:picLocks noChangeAspect="1"/>
          </p:cNvPicPr>
          <p:nvPr/>
        </p:nvPicPr>
        <p:blipFill>
          <a:blip r:embed="rId7"/>
          <a:stretch>
            <a:fillRect/>
          </a:stretch>
        </p:blipFill>
        <p:spPr>
          <a:xfrm>
            <a:off x="523875" y="6410325"/>
            <a:ext cx="12192000" cy="257175"/>
          </a:xfrm>
          <a:prstGeom prst="rect">
            <a:avLst/>
          </a:prstGeom>
        </p:spPr>
      </p:pic>
      <p:sp>
        <p:nvSpPr>
          <p:cNvPr id="8" name="TextBox 7"/>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9" name="TextBox 8"/>
          <p:cNvSpPr txBox="1"/>
          <p:nvPr/>
        </p:nvSpPr>
        <p:spPr>
          <a:xfrm>
            <a:off x="12382500"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7</a:t>
            </a:r>
          </a:p>
        </p:txBody>
      </p:sp>
      <p:sp>
        <p:nvSpPr>
          <p:cNvPr id="10" name="TextBox 9"/>
          <p:cNvSpPr txBox="1"/>
          <p:nvPr/>
        </p:nvSpPr>
        <p:spPr>
          <a:xfrm>
            <a:off x="523875" y="1000125"/>
            <a:ext cx="5405437" cy="200025"/>
          </a:xfrm>
          <a:prstGeom prst="rect">
            <a:avLst/>
          </a:prstGeom>
          <a:noFill/>
        </p:spPr>
        <p:txBody>
          <a:bodyPr wrap="square" lIns="0" rIns="0" tIns="0" bIns="0" anchor="t">
            <a:spAutoFit/>
          </a:bodyPr>
          <a:lstStyle/>
          <a:p>
            <a:pPr algn="l">
              <a:lnSpc>
                <a:spcPts val="1575"/>
              </a:lnSpc>
            </a:pPr>
            <a:r>
              <a:rPr b="0" sz="1050" i="0" u="none">
                <a:solidFill>
                  <a:srgbClr val="0EA5E9"/>
                </a:solidFill>
                <a:latin typeface="Inter SemiBold"/>
              </a:rPr>
              <a:t>RESEARCH QUESTION 2</a:t>
            </a:r>
          </a:p>
        </p:txBody>
      </p:sp>
      <p:sp>
        <p:nvSpPr>
          <p:cNvPr id="11" name="TextBox 10"/>
          <p:cNvSpPr txBox="1"/>
          <p:nvPr/>
        </p:nvSpPr>
        <p:spPr>
          <a:xfrm>
            <a:off x="523875" y="1257300"/>
            <a:ext cx="5675709" cy="476250"/>
          </a:xfrm>
          <a:prstGeom prst="rect">
            <a:avLst/>
          </a:prstGeom>
          <a:noFill/>
        </p:spPr>
        <p:txBody>
          <a:bodyPr wrap="square" lIns="0" rIns="0" tIns="0" bIns="0" anchor="t">
            <a:spAutoFit/>
          </a:bodyPr>
          <a:lstStyle/>
          <a:p>
            <a:pPr algn="l"/>
            <a:r>
              <a:rPr b="1" sz="1500" i="0" u="none">
                <a:solidFill>
                  <a:srgbClr val="0F172A"/>
                </a:solidFill>
                <a:latin typeface="Plus Jakarta Sans"/>
              </a:rPr>
              <a:t>How do billing amounts and length of stay vary by admission type?</a:t>
            </a:r>
          </a:p>
        </p:txBody>
      </p:sp>
      <p:sp>
        <p:nvSpPr>
          <p:cNvPr id="12" name="TextBox 11"/>
          <p:cNvSpPr txBox="1"/>
          <p:nvPr/>
        </p:nvSpPr>
        <p:spPr>
          <a:xfrm>
            <a:off x="704850" y="1971675"/>
            <a:ext cx="5072062" cy="152400"/>
          </a:xfrm>
          <a:prstGeom prst="rect">
            <a:avLst/>
          </a:prstGeom>
          <a:noFill/>
        </p:spPr>
        <p:txBody>
          <a:bodyPr wrap="square" lIns="0" rIns="0" tIns="0" bIns="0" anchor="t">
            <a:spAutoFit/>
          </a:bodyPr>
          <a:lstStyle/>
          <a:p>
            <a:pPr algn="l"/>
            <a:r>
              <a:rPr b="0" sz="975" i="0" u="none">
                <a:solidFill>
                  <a:srgbClr val="64748B"/>
                </a:solidFill>
                <a:latin typeface="Inter SemiBold"/>
              </a:rPr>
              <a:t>Urgent Care Cases</a:t>
            </a:r>
          </a:p>
        </p:txBody>
      </p:sp>
      <p:sp>
        <p:nvSpPr>
          <p:cNvPr id="13" name="TextBox 12"/>
          <p:cNvSpPr txBox="1"/>
          <p:nvPr/>
        </p:nvSpPr>
        <p:spPr>
          <a:xfrm>
            <a:off x="704850" y="2171700"/>
            <a:ext cx="5072062" cy="228600"/>
          </a:xfrm>
          <a:prstGeom prst="rect">
            <a:avLst/>
          </a:prstGeom>
          <a:noFill/>
        </p:spPr>
        <p:txBody>
          <a:bodyPr wrap="square" lIns="0" rIns="0" tIns="0" bIns="0" anchor="t">
            <a:spAutoFit/>
          </a:bodyPr>
          <a:lstStyle/>
          <a:p>
            <a:pPr algn="l"/>
            <a:r>
              <a:rPr b="1" sz="1500" i="0" u="none">
                <a:solidFill>
                  <a:srgbClr val="D97706"/>
                </a:solidFill>
                <a:latin typeface="Inter"/>
              </a:rPr>
              <a:t>$29,626 </a:t>
            </a:r>
            <a:r>
              <a:rPr b="0" sz="1500" i="0" u="none">
                <a:solidFill>
                  <a:srgbClr val="475569"/>
                </a:solidFill>
                <a:latin typeface="Inter"/>
              </a:rPr>
              <a:t>(15.1 Days Stay)</a:t>
            </a:r>
          </a:p>
        </p:txBody>
      </p:sp>
      <p:sp>
        <p:nvSpPr>
          <p:cNvPr id="14" name="TextBox 13"/>
          <p:cNvSpPr txBox="1"/>
          <p:nvPr/>
        </p:nvSpPr>
        <p:spPr>
          <a:xfrm>
            <a:off x="704850" y="2743200"/>
            <a:ext cx="5072062" cy="152400"/>
          </a:xfrm>
          <a:prstGeom prst="rect">
            <a:avLst/>
          </a:prstGeom>
          <a:noFill/>
        </p:spPr>
        <p:txBody>
          <a:bodyPr wrap="square" lIns="0" rIns="0" tIns="0" bIns="0" anchor="t">
            <a:spAutoFit/>
          </a:bodyPr>
          <a:lstStyle/>
          <a:p>
            <a:pPr algn="l"/>
            <a:r>
              <a:rPr b="0" sz="975" i="0" u="none">
                <a:solidFill>
                  <a:srgbClr val="64748B"/>
                </a:solidFill>
                <a:latin typeface="Inter SemiBold"/>
              </a:rPr>
              <a:t>Emergency Admissions</a:t>
            </a:r>
          </a:p>
        </p:txBody>
      </p:sp>
      <p:sp>
        <p:nvSpPr>
          <p:cNvPr id="15" name="TextBox 14"/>
          <p:cNvSpPr txBox="1"/>
          <p:nvPr/>
        </p:nvSpPr>
        <p:spPr>
          <a:xfrm>
            <a:off x="704850" y="2943225"/>
            <a:ext cx="5072062" cy="228600"/>
          </a:xfrm>
          <a:prstGeom prst="rect">
            <a:avLst/>
          </a:prstGeom>
          <a:noFill/>
        </p:spPr>
        <p:txBody>
          <a:bodyPr wrap="square" lIns="0" rIns="0" tIns="0" bIns="0" anchor="t">
            <a:spAutoFit/>
          </a:bodyPr>
          <a:lstStyle/>
          <a:p>
            <a:pPr algn="l"/>
            <a:r>
              <a:rPr b="1" sz="1500" i="0" u="none">
                <a:solidFill>
                  <a:srgbClr val="0284C7"/>
                </a:solidFill>
                <a:latin typeface="Inter"/>
              </a:rPr>
              <a:t>$27,150 </a:t>
            </a:r>
            <a:r>
              <a:rPr b="0" sz="1500" i="0" u="none">
                <a:solidFill>
                  <a:srgbClr val="475569"/>
                </a:solidFill>
                <a:latin typeface="Inter"/>
              </a:rPr>
              <a:t>(12.4 Days Stay)</a:t>
            </a:r>
          </a:p>
        </p:txBody>
      </p:sp>
      <p:sp>
        <p:nvSpPr>
          <p:cNvPr id="16" name="TextBox 15"/>
          <p:cNvSpPr txBox="1"/>
          <p:nvPr/>
        </p:nvSpPr>
        <p:spPr>
          <a:xfrm>
            <a:off x="704850" y="3514725"/>
            <a:ext cx="5072062" cy="152400"/>
          </a:xfrm>
          <a:prstGeom prst="rect">
            <a:avLst/>
          </a:prstGeom>
          <a:noFill/>
        </p:spPr>
        <p:txBody>
          <a:bodyPr wrap="square" lIns="0" rIns="0" tIns="0" bIns="0" anchor="t">
            <a:spAutoFit/>
          </a:bodyPr>
          <a:lstStyle/>
          <a:p>
            <a:pPr algn="l"/>
            <a:r>
              <a:rPr b="0" sz="975" i="0" u="none">
                <a:solidFill>
                  <a:srgbClr val="64748B"/>
                </a:solidFill>
                <a:latin typeface="Inter SemiBold"/>
              </a:rPr>
              <a:t>Elective Admissions</a:t>
            </a:r>
          </a:p>
        </p:txBody>
      </p:sp>
      <p:sp>
        <p:nvSpPr>
          <p:cNvPr id="17" name="TextBox 16"/>
          <p:cNvSpPr txBox="1"/>
          <p:nvPr/>
        </p:nvSpPr>
        <p:spPr>
          <a:xfrm>
            <a:off x="704850" y="3714750"/>
            <a:ext cx="5072062" cy="228600"/>
          </a:xfrm>
          <a:prstGeom prst="rect">
            <a:avLst/>
          </a:prstGeom>
          <a:noFill/>
        </p:spPr>
        <p:txBody>
          <a:bodyPr wrap="square" lIns="0" rIns="0" tIns="0" bIns="0" anchor="t">
            <a:spAutoFit/>
          </a:bodyPr>
          <a:lstStyle/>
          <a:p>
            <a:pPr algn="l"/>
            <a:r>
              <a:rPr b="1" sz="1500" i="0" u="none">
                <a:solidFill>
                  <a:srgbClr val="059669"/>
                </a:solidFill>
                <a:latin typeface="Inter"/>
              </a:rPr>
              <a:t>$25,988 </a:t>
            </a:r>
            <a:r>
              <a:rPr b="0" sz="1500" i="0" u="none">
                <a:solidFill>
                  <a:srgbClr val="475569"/>
                </a:solidFill>
                <a:latin typeface="Inter"/>
              </a:rPr>
              <a:t>(9.8 Days Stay)</a:t>
            </a:r>
          </a:p>
        </p:txBody>
      </p:sp>
      <p:sp>
        <p:nvSpPr>
          <p:cNvPr id="18" name="TextBox 17"/>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Admission Type Cost &amp; Stay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11144250" cy="3067050"/>
          </a:xfrm>
          <a:prstGeom prst="rect">
            <a:avLst/>
          </a:prstGeom>
        </p:spPr>
      </p:pic>
      <p:pic>
        <p:nvPicPr>
          <p:cNvPr id="4" name="Picture 3" descr="image.png"/>
          <p:cNvPicPr>
            <a:picLocks noChangeAspect="1"/>
          </p:cNvPicPr>
          <p:nvPr/>
        </p:nvPicPr>
        <p:blipFill>
          <a:blip r:embed="rId4"/>
          <a:stretch>
            <a:fillRect/>
          </a:stretch>
        </p:blipFill>
        <p:spPr>
          <a:xfrm>
            <a:off x="523875" y="1847850"/>
            <a:ext cx="5405437" cy="895350"/>
          </a:xfrm>
          <a:prstGeom prst="rect">
            <a:avLst/>
          </a:prstGeom>
        </p:spPr>
      </p:pic>
      <p:pic>
        <p:nvPicPr>
          <p:cNvPr id="5" name="Picture 4" descr="image.png"/>
          <p:cNvPicPr>
            <a:picLocks noChangeAspect="1"/>
          </p:cNvPicPr>
          <p:nvPr/>
        </p:nvPicPr>
        <p:blipFill>
          <a:blip r:embed="rId5"/>
          <a:stretch>
            <a:fillRect/>
          </a:stretch>
        </p:blipFill>
        <p:spPr>
          <a:xfrm>
            <a:off x="523875" y="2838450"/>
            <a:ext cx="5405437" cy="895350"/>
          </a:xfrm>
          <a:prstGeom prst="rect">
            <a:avLst/>
          </a:prstGeom>
        </p:spPr>
      </p:pic>
      <p:pic>
        <p:nvPicPr>
          <p:cNvPr id="6" name="Picture 5" descr="image.png"/>
          <p:cNvPicPr>
            <a:picLocks noChangeAspect="1"/>
          </p:cNvPicPr>
          <p:nvPr/>
        </p:nvPicPr>
        <p:blipFill>
          <a:blip r:embed="rId6"/>
          <a:stretch>
            <a:fillRect/>
          </a:stretch>
        </p:blipFill>
        <p:spPr>
          <a:xfrm>
            <a:off x="523875" y="6410325"/>
            <a:ext cx="12192000" cy="257175"/>
          </a:xfrm>
          <a:prstGeom prst="rect">
            <a:avLst/>
          </a:prstGeom>
        </p:spPr>
      </p:pic>
      <p:sp>
        <p:nvSpPr>
          <p:cNvPr id="7" name="TextBox 6"/>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8" name="TextBox 7"/>
          <p:cNvSpPr txBox="1"/>
          <p:nvPr/>
        </p:nvSpPr>
        <p:spPr>
          <a:xfrm>
            <a:off x="123729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8</a:t>
            </a:r>
          </a:p>
        </p:txBody>
      </p:sp>
      <p:sp>
        <p:nvSpPr>
          <p:cNvPr id="9" name="TextBox 8"/>
          <p:cNvSpPr txBox="1"/>
          <p:nvPr/>
        </p:nvSpPr>
        <p:spPr>
          <a:xfrm>
            <a:off x="523875" y="1000125"/>
            <a:ext cx="5405437" cy="200025"/>
          </a:xfrm>
          <a:prstGeom prst="rect">
            <a:avLst/>
          </a:prstGeom>
          <a:noFill/>
        </p:spPr>
        <p:txBody>
          <a:bodyPr wrap="square" lIns="0" rIns="0" tIns="0" bIns="0" anchor="t">
            <a:spAutoFit/>
          </a:bodyPr>
          <a:lstStyle/>
          <a:p>
            <a:pPr algn="l">
              <a:lnSpc>
                <a:spcPts val="1575"/>
              </a:lnSpc>
            </a:pPr>
            <a:r>
              <a:rPr b="0" sz="1050" i="0" u="none">
                <a:solidFill>
                  <a:srgbClr val="0EA5E9"/>
                </a:solidFill>
                <a:latin typeface="Inter SemiBold"/>
              </a:rPr>
              <a:t>RESEARCH QUESTION 3</a:t>
            </a:r>
          </a:p>
        </p:txBody>
      </p:sp>
      <p:sp>
        <p:nvSpPr>
          <p:cNvPr id="10" name="TextBox 9"/>
          <p:cNvSpPr txBox="1"/>
          <p:nvPr/>
        </p:nvSpPr>
        <p:spPr>
          <a:xfrm>
            <a:off x="523875" y="1257300"/>
            <a:ext cx="5675709" cy="476250"/>
          </a:xfrm>
          <a:prstGeom prst="rect">
            <a:avLst/>
          </a:prstGeom>
          <a:noFill/>
        </p:spPr>
        <p:txBody>
          <a:bodyPr wrap="square" lIns="0" rIns="0" tIns="0" bIns="0" anchor="t">
            <a:spAutoFit/>
          </a:bodyPr>
          <a:lstStyle/>
          <a:p>
            <a:pPr algn="l"/>
            <a:r>
              <a:rPr b="1" sz="1500" i="0" u="none">
                <a:solidFill>
                  <a:srgbClr val="0F172A"/>
                </a:solidFill>
                <a:latin typeface="Plus Jakarta Sans"/>
              </a:rPr>
              <a:t>Which hospitals show higher average billing and longer stays?</a:t>
            </a:r>
          </a:p>
        </p:txBody>
      </p:sp>
      <p:sp>
        <p:nvSpPr>
          <p:cNvPr id="11" name="TextBox 10"/>
          <p:cNvSpPr txBox="1"/>
          <p:nvPr/>
        </p:nvSpPr>
        <p:spPr>
          <a:xfrm>
            <a:off x="714375" y="1971675"/>
            <a:ext cx="5062537" cy="266700"/>
          </a:xfrm>
          <a:prstGeom prst="rect">
            <a:avLst/>
          </a:prstGeom>
          <a:noFill/>
        </p:spPr>
        <p:txBody>
          <a:bodyPr wrap="square" lIns="0" rIns="0" tIns="0" bIns="0" anchor="t">
            <a:spAutoFit/>
          </a:bodyPr>
          <a:lstStyle/>
          <a:p>
            <a:pPr algn="l"/>
            <a:r>
              <a:rPr b="1" sz="1650" i="0" u="none">
                <a:solidFill>
                  <a:srgbClr val="0F172A"/>
                </a:solidFill>
                <a:latin typeface="Plus Jakarta Sans"/>
              </a:rPr>
              <a:t>19.5 Days (Ross LLC)</a:t>
            </a:r>
          </a:p>
        </p:txBody>
      </p:sp>
      <p:sp>
        <p:nvSpPr>
          <p:cNvPr id="12" name="TextBox 11"/>
          <p:cNvSpPr txBox="1"/>
          <p:nvPr/>
        </p:nvSpPr>
        <p:spPr>
          <a:xfrm>
            <a:off x="714375" y="2276475"/>
            <a:ext cx="5062537" cy="142875"/>
          </a:xfrm>
          <a:prstGeom prst="rect">
            <a:avLst/>
          </a:prstGeom>
          <a:noFill/>
        </p:spPr>
        <p:txBody>
          <a:bodyPr wrap="square" lIns="0" rIns="0" tIns="0" bIns="0" anchor="t">
            <a:spAutoFit/>
          </a:bodyPr>
          <a:lstStyle/>
          <a:p>
            <a:pPr algn="l"/>
            <a:r>
              <a:rPr b="0" sz="900" i="0" u="none">
                <a:solidFill>
                  <a:srgbClr val="64748B"/>
                </a:solidFill>
                <a:latin typeface="Inter SemiBold"/>
              </a:rPr>
              <a:t>Stay Duration Outlier</a:t>
            </a:r>
          </a:p>
        </p:txBody>
      </p:sp>
      <p:sp>
        <p:nvSpPr>
          <p:cNvPr id="13" name="TextBox 12"/>
          <p:cNvSpPr txBox="1"/>
          <p:nvPr/>
        </p:nvSpPr>
        <p:spPr>
          <a:xfrm>
            <a:off x="714375" y="2476500"/>
            <a:ext cx="5062537" cy="142875"/>
          </a:xfrm>
          <a:prstGeom prst="rect">
            <a:avLst/>
          </a:prstGeom>
          <a:noFill/>
        </p:spPr>
        <p:txBody>
          <a:bodyPr wrap="square" lIns="0" rIns="0" tIns="0" bIns="0" anchor="t">
            <a:spAutoFit/>
          </a:bodyPr>
          <a:lstStyle/>
          <a:p>
            <a:pPr algn="l"/>
            <a:r>
              <a:rPr b="0" sz="900" i="0" u="none">
                <a:solidFill>
                  <a:srgbClr val="64748B"/>
                </a:solidFill>
                <a:latin typeface="Inter"/>
              </a:rPr>
              <a:t>Significantly higher than the standard 10–14 day peer facility average.</a:t>
            </a:r>
          </a:p>
        </p:txBody>
      </p:sp>
      <p:sp>
        <p:nvSpPr>
          <p:cNvPr id="14" name="TextBox 13"/>
          <p:cNvSpPr txBox="1"/>
          <p:nvPr/>
        </p:nvSpPr>
        <p:spPr>
          <a:xfrm>
            <a:off x="714375" y="2962275"/>
            <a:ext cx="5062537" cy="266700"/>
          </a:xfrm>
          <a:prstGeom prst="rect">
            <a:avLst/>
          </a:prstGeom>
          <a:noFill/>
        </p:spPr>
        <p:txBody>
          <a:bodyPr wrap="square" lIns="0" rIns="0" tIns="0" bIns="0" anchor="t">
            <a:spAutoFit/>
          </a:bodyPr>
          <a:lstStyle/>
          <a:p>
            <a:pPr algn="l"/>
            <a:r>
              <a:rPr b="1" sz="1650" i="0" u="none">
                <a:solidFill>
                  <a:srgbClr val="0F172A"/>
                </a:solidFill>
                <a:latin typeface="Plus Jakarta Sans"/>
              </a:rPr>
              <a:t>$30,658 (Davis Group)</a:t>
            </a:r>
          </a:p>
        </p:txBody>
      </p:sp>
      <p:sp>
        <p:nvSpPr>
          <p:cNvPr id="15" name="TextBox 14"/>
          <p:cNvSpPr txBox="1"/>
          <p:nvPr/>
        </p:nvSpPr>
        <p:spPr>
          <a:xfrm>
            <a:off x="714375" y="3267075"/>
            <a:ext cx="5062537" cy="142875"/>
          </a:xfrm>
          <a:prstGeom prst="rect">
            <a:avLst/>
          </a:prstGeom>
          <a:noFill/>
        </p:spPr>
        <p:txBody>
          <a:bodyPr wrap="square" lIns="0" rIns="0" tIns="0" bIns="0" anchor="t">
            <a:spAutoFit/>
          </a:bodyPr>
          <a:lstStyle/>
          <a:p>
            <a:pPr algn="l"/>
            <a:r>
              <a:rPr b="0" sz="900" i="0" u="none">
                <a:solidFill>
                  <a:srgbClr val="64748B"/>
                </a:solidFill>
                <a:latin typeface="Inter SemiBold"/>
              </a:rPr>
              <a:t>Peak Pricing Outlier</a:t>
            </a:r>
          </a:p>
        </p:txBody>
      </p:sp>
      <p:sp>
        <p:nvSpPr>
          <p:cNvPr id="16" name="TextBox 15"/>
          <p:cNvSpPr txBox="1"/>
          <p:nvPr/>
        </p:nvSpPr>
        <p:spPr>
          <a:xfrm>
            <a:off x="714375" y="3467100"/>
            <a:ext cx="5062537" cy="142875"/>
          </a:xfrm>
          <a:prstGeom prst="rect">
            <a:avLst/>
          </a:prstGeom>
          <a:noFill/>
        </p:spPr>
        <p:txBody>
          <a:bodyPr wrap="square" lIns="0" rIns="0" tIns="0" bIns="0" anchor="t">
            <a:spAutoFit/>
          </a:bodyPr>
          <a:lstStyle/>
          <a:p>
            <a:pPr algn="l"/>
            <a:r>
              <a:rPr b="0" sz="900" i="0" u="none">
                <a:solidFill>
                  <a:srgbClr val="64748B"/>
                </a:solidFill>
                <a:latin typeface="Inter"/>
              </a:rPr>
              <a:t>Ranks highest in average billing cost among top hospital networks.</a:t>
            </a:r>
          </a:p>
        </p:txBody>
      </p:sp>
      <p:sp>
        <p:nvSpPr>
          <p:cNvPr id="17" name="TextBox 16"/>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Hospital Efficiency &amp; Facility Outliers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11144250" cy="2247900"/>
          </a:xfrm>
          <a:prstGeom prst="rect">
            <a:avLst/>
          </a:prstGeom>
        </p:spPr>
      </p:pic>
      <p:pic>
        <p:nvPicPr>
          <p:cNvPr id="4" name="Picture 3" descr="image.png"/>
          <p:cNvPicPr>
            <a:picLocks noChangeAspect="1"/>
          </p:cNvPicPr>
          <p:nvPr/>
        </p:nvPicPr>
        <p:blipFill>
          <a:blip r:embed="rId4"/>
          <a:stretch>
            <a:fillRect/>
          </a:stretch>
        </p:blipFill>
        <p:spPr>
          <a:xfrm>
            <a:off x="523875" y="6410325"/>
            <a:ext cx="12192000" cy="257175"/>
          </a:xfrm>
          <a:prstGeom prst="rect">
            <a:avLst/>
          </a:prstGeom>
        </p:spPr>
      </p:pic>
      <p:sp>
        <p:nvSpPr>
          <p:cNvPr id="5" name="TextBox 4"/>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6" name="TextBox 5"/>
          <p:cNvSpPr txBox="1"/>
          <p:nvPr/>
        </p:nvSpPr>
        <p:spPr>
          <a:xfrm>
            <a:off x="123729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9</a:t>
            </a:r>
          </a:p>
        </p:txBody>
      </p:sp>
      <p:sp>
        <p:nvSpPr>
          <p:cNvPr id="7" name="TextBox 6"/>
          <p:cNvSpPr txBox="1"/>
          <p:nvPr/>
        </p:nvSpPr>
        <p:spPr>
          <a:xfrm>
            <a:off x="523875" y="1107281"/>
            <a:ext cx="5405437" cy="200025"/>
          </a:xfrm>
          <a:prstGeom prst="rect">
            <a:avLst/>
          </a:prstGeom>
          <a:noFill/>
        </p:spPr>
        <p:txBody>
          <a:bodyPr wrap="square" lIns="0" rIns="0" tIns="0" bIns="0" anchor="t">
            <a:spAutoFit/>
          </a:bodyPr>
          <a:lstStyle/>
          <a:p>
            <a:pPr algn="l">
              <a:lnSpc>
                <a:spcPts val="1575"/>
              </a:lnSpc>
            </a:pPr>
            <a:r>
              <a:rPr b="0" sz="1050" i="0" u="none">
                <a:solidFill>
                  <a:srgbClr val="0EA5E9"/>
                </a:solidFill>
                <a:latin typeface="Inter SemiBold"/>
              </a:rPr>
              <a:t>RESEARCH QUESTION 4</a:t>
            </a:r>
          </a:p>
        </p:txBody>
      </p:sp>
      <p:sp>
        <p:nvSpPr>
          <p:cNvPr id="8" name="TextBox 7"/>
          <p:cNvSpPr txBox="1"/>
          <p:nvPr/>
        </p:nvSpPr>
        <p:spPr>
          <a:xfrm>
            <a:off x="523875" y="1364456"/>
            <a:ext cx="5675709" cy="476250"/>
          </a:xfrm>
          <a:prstGeom prst="rect">
            <a:avLst/>
          </a:prstGeom>
          <a:noFill/>
        </p:spPr>
        <p:txBody>
          <a:bodyPr wrap="square" lIns="0" rIns="0" tIns="0" bIns="0" anchor="t">
            <a:spAutoFit/>
          </a:bodyPr>
          <a:lstStyle/>
          <a:p>
            <a:pPr algn="l"/>
            <a:r>
              <a:rPr b="1" sz="1500" i="0" u="none">
                <a:solidFill>
                  <a:srgbClr val="0F172A"/>
                </a:solidFill>
                <a:latin typeface="Plus Jakarta Sans"/>
              </a:rPr>
              <a:t>How do billing amounts vary across insurance and age groups?</a:t>
            </a:r>
          </a:p>
        </p:txBody>
      </p:sp>
      <p:sp>
        <p:nvSpPr>
          <p:cNvPr id="9" name="TextBox 8"/>
          <p:cNvSpPr txBox="1"/>
          <p:nvPr/>
        </p:nvSpPr>
        <p:spPr>
          <a:xfrm>
            <a:off x="523875" y="1955006"/>
            <a:ext cx="5405437" cy="428625"/>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Key Finding:</a:t>
            </a:r>
            <a:r>
              <a:rPr b="0" sz="1125" i="0" u="none">
                <a:solidFill>
                  <a:srgbClr val="475569"/>
                </a:solidFill>
                <a:latin typeface="Inter"/>
              </a:rPr>
              <a:t> Financial expenses fluctuate noticeably across insurance providers (such as Blue Cross and Cigna) and patient age brackets.</a:t>
            </a:r>
          </a:p>
        </p:txBody>
      </p:sp>
      <p:sp>
        <p:nvSpPr>
          <p:cNvPr id="10" name="TextBox 9"/>
          <p:cNvSpPr txBox="1"/>
          <p:nvPr/>
        </p:nvSpPr>
        <p:spPr>
          <a:xfrm>
            <a:off x="523875" y="2497931"/>
            <a:ext cx="5405437" cy="642937"/>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Insight:</a:t>
            </a:r>
            <a:r>
              <a:rPr b="0" sz="1125" i="0" u="none">
                <a:solidFill>
                  <a:srgbClr val="475569"/>
                </a:solidFill>
                <a:latin typeface="Inter"/>
              </a:rPr>
              <a:t> Younger adult cohorts and specific mid-tier age groups experience sharp financial spikes exceeding $35,000 per admission, requiring targeted review.</a:t>
            </a:r>
          </a:p>
        </p:txBody>
      </p:sp>
      <p:sp>
        <p:nvSpPr>
          <p:cNvPr id="11" name="TextBox 10"/>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Insurance Providers &amp; Patient Age Demographics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11144250" cy="3067050"/>
          </a:xfrm>
          <a:prstGeom prst="rect">
            <a:avLst/>
          </a:prstGeom>
        </p:spPr>
      </p:pic>
      <p:pic>
        <p:nvPicPr>
          <p:cNvPr id="4" name="Picture 3" descr="image.png"/>
          <p:cNvPicPr>
            <a:picLocks noChangeAspect="1"/>
          </p:cNvPicPr>
          <p:nvPr/>
        </p:nvPicPr>
        <p:blipFill>
          <a:blip r:embed="rId4"/>
          <a:stretch>
            <a:fillRect/>
          </a:stretch>
        </p:blipFill>
        <p:spPr>
          <a:xfrm>
            <a:off x="523875" y="1847850"/>
            <a:ext cx="5405437" cy="981075"/>
          </a:xfrm>
          <a:prstGeom prst="rect">
            <a:avLst/>
          </a:prstGeom>
        </p:spPr>
      </p:pic>
      <p:pic>
        <p:nvPicPr>
          <p:cNvPr id="5" name="Picture 4" descr="image.png"/>
          <p:cNvPicPr>
            <a:picLocks noChangeAspect="1"/>
          </p:cNvPicPr>
          <p:nvPr/>
        </p:nvPicPr>
        <p:blipFill>
          <a:blip r:embed="rId5"/>
          <a:stretch>
            <a:fillRect/>
          </a:stretch>
        </p:blipFill>
        <p:spPr>
          <a:xfrm>
            <a:off x="523875" y="6410325"/>
            <a:ext cx="12192000" cy="257175"/>
          </a:xfrm>
          <a:prstGeom prst="rect">
            <a:avLst/>
          </a:prstGeom>
        </p:spPr>
      </p:pic>
      <p:sp>
        <p:nvSpPr>
          <p:cNvPr id="6" name="TextBox 5"/>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7" name="TextBox 6"/>
          <p:cNvSpPr txBox="1"/>
          <p:nvPr/>
        </p:nvSpPr>
        <p:spPr>
          <a:xfrm>
            <a:off x="123348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10</a:t>
            </a:r>
          </a:p>
        </p:txBody>
      </p:sp>
      <p:sp>
        <p:nvSpPr>
          <p:cNvPr id="8" name="TextBox 7"/>
          <p:cNvSpPr txBox="1"/>
          <p:nvPr/>
        </p:nvSpPr>
        <p:spPr>
          <a:xfrm>
            <a:off x="523875" y="1000125"/>
            <a:ext cx="5405437" cy="200025"/>
          </a:xfrm>
          <a:prstGeom prst="rect">
            <a:avLst/>
          </a:prstGeom>
          <a:noFill/>
        </p:spPr>
        <p:txBody>
          <a:bodyPr wrap="square" lIns="0" rIns="0" tIns="0" bIns="0" anchor="t">
            <a:spAutoFit/>
          </a:bodyPr>
          <a:lstStyle/>
          <a:p>
            <a:pPr algn="l">
              <a:lnSpc>
                <a:spcPts val="1575"/>
              </a:lnSpc>
            </a:pPr>
            <a:r>
              <a:rPr b="0" sz="1050" i="0" u="none">
                <a:solidFill>
                  <a:srgbClr val="0EA5E9"/>
                </a:solidFill>
                <a:latin typeface="Inter SemiBold"/>
              </a:rPr>
              <a:t>RESEARCH QUESTION 5</a:t>
            </a:r>
          </a:p>
        </p:txBody>
      </p:sp>
      <p:sp>
        <p:nvSpPr>
          <p:cNvPr id="9" name="TextBox 8"/>
          <p:cNvSpPr txBox="1"/>
          <p:nvPr/>
        </p:nvSpPr>
        <p:spPr>
          <a:xfrm>
            <a:off x="523875" y="1257300"/>
            <a:ext cx="5675709" cy="476250"/>
          </a:xfrm>
          <a:prstGeom prst="rect">
            <a:avLst/>
          </a:prstGeom>
          <a:noFill/>
        </p:spPr>
        <p:txBody>
          <a:bodyPr wrap="square" lIns="0" rIns="0" tIns="0" bIns="0" anchor="t">
            <a:spAutoFit/>
          </a:bodyPr>
          <a:lstStyle/>
          <a:p>
            <a:pPr algn="l"/>
            <a:r>
              <a:rPr b="1" sz="1500" i="0" u="none">
                <a:solidFill>
                  <a:srgbClr val="0F172A"/>
                </a:solidFill>
                <a:latin typeface="Plus Jakarta Sans"/>
              </a:rPr>
              <a:t>Is longer length of stay associated with higher billing amounts?</a:t>
            </a:r>
          </a:p>
        </p:txBody>
      </p:sp>
      <p:sp>
        <p:nvSpPr>
          <p:cNvPr id="10" name="TextBox 9"/>
          <p:cNvSpPr txBox="1"/>
          <p:nvPr/>
        </p:nvSpPr>
        <p:spPr>
          <a:xfrm>
            <a:off x="523875" y="2971800"/>
            <a:ext cx="5405437" cy="642937"/>
          </a:xfrm>
          <a:prstGeom prst="rect">
            <a:avLst/>
          </a:prstGeom>
          <a:noFill/>
        </p:spPr>
        <p:txBody>
          <a:bodyPr wrap="square" lIns="0" rIns="0" tIns="0" bIns="0" anchor="t">
            <a:spAutoFit/>
          </a:bodyPr>
          <a:lstStyle/>
          <a:p>
            <a:pPr algn="l">
              <a:lnSpc>
                <a:spcPts val="1687"/>
              </a:lnSpc>
            </a:pPr>
            <a:r>
              <a:rPr b="1" sz="1125" i="0" u="none">
                <a:solidFill>
                  <a:srgbClr val="475569"/>
                </a:solidFill>
                <a:latin typeface="Inter"/>
              </a:rPr>
              <a:t>Plain English Takeaway:</a:t>
            </a:r>
            <a:r>
              <a:rPr b="0" sz="1125" i="0" u="none">
                <a:solidFill>
                  <a:srgbClr val="475569"/>
                </a:solidFill>
                <a:latin typeface="Inter"/>
              </a:rPr>
              <a:t> Staying longer in the hospital does not automatically mean higher bills. Overall costs depend much more heavily on the medical condition, specific procedures, or admission urgency than time spent in bed.</a:t>
            </a:r>
          </a:p>
        </p:txBody>
      </p:sp>
      <p:sp>
        <p:nvSpPr>
          <p:cNvPr id="11" name="TextBox 10"/>
          <p:cNvSpPr txBox="1"/>
          <p:nvPr/>
        </p:nvSpPr>
        <p:spPr>
          <a:xfrm>
            <a:off x="742950" y="2000250"/>
            <a:ext cx="5005387" cy="285750"/>
          </a:xfrm>
          <a:prstGeom prst="rect">
            <a:avLst/>
          </a:prstGeom>
          <a:noFill/>
        </p:spPr>
        <p:txBody>
          <a:bodyPr wrap="square" lIns="0" rIns="0" tIns="0" bIns="0" anchor="t">
            <a:spAutoFit/>
          </a:bodyPr>
          <a:lstStyle/>
          <a:p>
            <a:pPr algn="l"/>
            <a:r>
              <a:rPr b="1" sz="1800" i="0" u="none">
                <a:solidFill>
                  <a:srgbClr val="0F172A"/>
                </a:solidFill>
                <a:latin typeface="Plus Jakarta Sans"/>
              </a:rPr>
              <a:t>r = -0.01 Correlation</a:t>
            </a:r>
          </a:p>
        </p:txBody>
      </p:sp>
      <p:sp>
        <p:nvSpPr>
          <p:cNvPr id="12" name="TextBox 11"/>
          <p:cNvSpPr txBox="1"/>
          <p:nvPr/>
        </p:nvSpPr>
        <p:spPr>
          <a:xfrm>
            <a:off x="742950" y="2324100"/>
            <a:ext cx="5005387" cy="152400"/>
          </a:xfrm>
          <a:prstGeom prst="rect">
            <a:avLst/>
          </a:prstGeom>
          <a:noFill/>
        </p:spPr>
        <p:txBody>
          <a:bodyPr wrap="square" lIns="0" rIns="0" tIns="0" bIns="0" anchor="t">
            <a:spAutoFit/>
          </a:bodyPr>
          <a:lstStyle/>
          <a:p>
            <a:pPr algn="l"/>
            <a:r>
              <a:rPr b="0" sz="975" i="0" u="none">
                <a:solidFill>
                  <a:srgbClr val="64748B"/>
                </a:solidFill>
                <a:latin typeface="Inter SemiBold"/>
              </a:rPr>
              <a:t>No Statistical Relationship</a:t>
            </a:r>
          </a:p>
        </p:txBody>
      </p:sp>
      <p:sp>
        <p:nvSpPr>
          <p:cNvPr id="13" name="TextBox 12"/>
          <p:cNvSpPr txBox="1"/>
          <p:nvPr/>
        </p:nvSpPr>
        <p:spPr>
          <a:xfrm>
            <a:off x="742950" y="2533650"/>
            <a:ext cx="5005387" cy="142875"/>
          </a:xfrm>
          <a:prstGeom prst="rect">
            <a:avLst/>
          </a:prstGeom>
          <a:noFill/>
        </p:spPr>
        <p:txBody>
          <a:bodyPr wrap="square" lIns="0" rIns="0" tIns="0" bIns="0" anchor="t">
            <a:spAutoFit/>
          </a:bodyPr>
          <a:lstStyle/>
          <a:p>
            <a:pPr algn="l"/>
            <a:r>
              <a:rPr b="0" sz="900" i="0" u="none">
                <a:solidFill>
                  <a:srgbClr val="64748B"/>
                </a:solidFill>
                <a:latin typeface="Inter"/>
              </a:rPr>
              <a:t>Proves a near-zero statistical correlation between stay duration and total billing amount.</a:t>
            </a:r>
          </a:p>
        </p:txBody>
      </p:sp>
      <p:sp>
        <p:nvSpPr>
          <p:cNvPr id="14" name="TextBox 13"/>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Length of Stay vs. Cost Correlation Analysis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11144250" cy="1809750"/>
          </a:xfrm>
          <a:prstGeom prst="rect">
            <a:avLst/>
          </a:prstGeom>
        </p:spPr>
      </p:pic>
      <p:pic>
        <p:nvPicPr>
          <p:cNvPr id="4" name="Picture 3" descr="image.png"/>
          <p:cNvPicPr>
            <a:picLocks noChangeAspect="1"/>
          </p:cNvPicPr>
          <p:nvPr/>
        </p:nvPicPr>
        <p:blipFill>
          <a:blip r:embed="rId4"/>
          <a:stretch>
            <a:fillRect/>
          </a:stretch>
        </p:blipFill>
        <p:spPr>
          <a:xfrm>
            <a:off x="523875" y="1000125"/>
            <a:ext cx="5405437" cy="847725"/>
          </a:xfrm>
          <a:prstGeom prst="rect">
            <a:avLst/>
          </a:prstGeom>
        </p:spPr>
      </p:pic>
      <p:pic>
        <p:nvPicPr>
          <p:cNvPr id="5" name="Picture 4" descr="image.png"/>
          <p:cNvPicPr>
            <a:picLocks noChangeAspect="1"/>
          </p:cNvPicPr>
          <p:nvPr/>
        </p:nvPicPr>
        <p:blipFill>
          <a:blip r:embed="rId5"/>
          <a:stretch>
            <a:fillRect/>
          </a:stretch>
        </p:blipFill>
        <p:spPr>
          <a:xfrm>
            <a:off x="523875" y="1962150"/>
            <a:ext cx="5405437" cy="847725"/>
          </a:xfrm>
          <a:prstGeom prst="rect">
            <a:avLst/>
          </a:prstGeom>
        </p:spPr>
      </p:pic>
      <p:pic>
        <p:nvPicPr>
          <p:cNvPr id="6" name="Picture 5" descr="image.png"/>
          <p:cNvPicPr>
            <a:picLocks noChangeAspect="1"/>
          </p:cNvPicPr>
          <p:nvPr/>
        </p:nvPicPr>
        <p:blipFill>
          <a:blip r:embed="rId6"/>
          <a:stretch>
            <a:fillRect/>
          </a:stretch>
        </p:blipFill>
        <p:spPr>
          <a:xfrm>
            <a:off x="523875" y="6410325"/>
            <a:ext cx="12192000" cy="257175"/>
          </a:xfrm>
          <a:prstGeom prst="rect">
            <a:avLst/>
          </a:prstGeom>
        </p:spPr>
      </p:pic>
      <p:sp>
        <p:nvSpPr>
          <p:cNvPr id="7" name="TextBox 6"/>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8" name="TextBox 7"/>
          <p:cNvSpPr txBox="1"/>
          <p:nvPr/>
        </p:nvSpPr>
        <p:spPr>
          <a:xfrm>
            <a:off x="12363450"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11</a:t>
            </a:r>
          </a:p>
        </p:txBody>
      </p:sp>
      <p:sp>
        <p:nvSpPr>
          <p:cNvPr id="9" name="TextBox 8"/>
          <p:cNvSpPr txBox="1"/>
          <p:nvPr/>
        </p:nvSpPr>
        <p:spPr>
          <a:xfrm>
            <a:off x="723900" y="1123950"/>
            <a:ext cx="5043487" cy="219075"/>
          </a:xfrm>
          <a:prstGeom prst="rect">
            <a:avLst/>
          </a:prstGeom>
          <a:noFill/>
        </p:spPr>
        <p:txBody>
          <a:bodyPr wrap="square" lIns="0" rIns="0" tIns="0" bIns="0" anchor="t">
            <a:spAutoFit/>
          </a:bodyPr>
          <a:lstStyle/>
          <a:p>
            <a:pPr algn="l"/>
            <a:r>
              <a:rPr b="1" sz="1350" i="0" u="none">
                <a:solidFill>
                  <a:srgbClr val="0F172A"/>
                </a:solidFill>
                <a:latin typeface="Plus Jakarta Sans"/>
              </a:rPr>
              <a:t>Daily Burn Rate</a:t>
            </a:r>
          </a:p>
        </p:txBody>
      </p:sp>
      <p:sp>
        <p:nvSpPr>
          <p:cNvPr id="10" name="TextBox 9"/>
          <p:cNvSpPr txBox="1"/>
          <p:nvPr/>
        </p:nvSpPr>
        <p:spPr>
          <a:xfrm>
            <a:off x="723900" y="1381125"/>
            <a:ext cx="5043487" cy="142875"/>
          </a:xfrm>
          <a:prstGeom prst="rect">
            <a:avLst/>
          </a:prstGeom>
          <a:noFill/>
        </p:spPr>
        <p:txBody>
          <a:bodyPr wrap="square" lIns="0" rIns="0" tIns="0" bIns="0" anchor="t">
            <a:spAutoFit/>
          </a:bodyPr>
          <a:lstStyle/>
          <a:p>
            <a:pPr algn="l"/>
            <a:r>
              <a:rPr b="0" sz="900" i="0" u="none">
                <a:solidFill>
                  <a:srgbClr val="64748B"/>
                </a:solidFill>
                <a:latin typeface="Inter SemiBold"/>
              </a:rPr>
              <a:t>Cost Per Patient Day</a:t>
            </a:r>
          </a:p>
        </p:txBody>
      </p:sp>
      <p:sp>
        <p:nvSpPr>
          <p:cNvPr id="11" name="TextBox 10"/>
          <p:cNvSpPr txBox="1"/>
          <p:nvPr/>
        </p:nvSpPr>
        <p:spPr>
          <a:xfrm>
            <a:off x="723900" y="1581150"/>
            <a:ext cx="5043487" cy="142875"/>
          </a:xfrm>
          <a:prstGeom prst="rect">
            <a:avLst/>
          </a:prstGeom>
          <a:noFill/>
        </p:spPr>
        <p:txBody>
          <a:bodyPr wrap="square" lIns="0" rIns="0" tIns="0" bIns="0" anchor="t">
            <a:spAutoFit/>
          </a:bodyPr>
          <a:lstStyle/>
          <a:p>
            <a:pPr algn="l"/>
            <a:r>
              <a:rPr b="0" sz="900" i="0" u="none">
                <a:solidFill>
                  <a:srgbClr val="64748B"/>
                </a:solidFill>
                <a:latin typeface="Inter"/>
              </a:rPr>
              <a:t>Calculated via custom SQL </a:t>
            </a:r>
            <a:r>
              <a:rPr b="0" sz="900" i="0" u="none">
                <a:solidFill>
                  <a:srgbClr val="64748B"/>
                </a:solidFill>
                <a:latin typeface="Inter"/>
              </a:rPr>
              <a:t>(Billing Amount / Length of Stay)</a:t>
            </a:r>
            <a:r>
              <a:rPr b="0" sz="900" i="0" u="none">
                <a:solidFill>
                  <a:srgbClr val="64748B"/>
                </a:solidFill>
                <a:latin typeface="Inter"/>
              </a:rPr>
              <a:t>.</a:t>
            </a:r>
          </a:p>
        </p:txBody>
      </p:sp>
      <p:sp>
        <p:nvSpPr>
          <p:cNvPr id="12" name="TextBox 11"/>
          <p:cNvSpPr txBox="1"/>
          <p:nvPr/>
        </p:nvSpPr>
        <p:spPr>
          <a:xfrm>
            <a:off x="723900" y="2085975"/>
            <a:ext cx="5043487" cy="219075"/>
          </a:xfrm>
          <a:prstGeom prst="rect">
            <a:avLst/>
          </a:prstGeom>
          <a:noFill/>
        </p:spPr>
        <p:txBody>
          <a:bodyPr wrap="square" lIns="0" rIns="0" tIns="0" bIns="0" anchor="t">
            <a:spAutoFit/>
          </a:bodyPr>
          <a:lstStyle/>
          <a:p>
            <a:pPr algn="l"/>
            <a:r>
              <a:rPr b="1" sz="1350" i="0" u="none">
                <a:solidFill>
                  <a:srgbClr val="0F172A"/>
                </a:solidFill>
                <a:latin typeface="Plus Jakarta Sans"/>
              </a:rPr>
              <a:t>Top 10% Concentration</a:t>
            </a:r>
          </a:p>
        </p:txBody>
      </p:sp>
      <p:sp>
        <p:nvSpPr>
          <p:cNvPr id="13" name="TextBox 12"/>
          <p:cNvSpPr txBox="1"/>
          <p:nvPr/>
        </p:nvSpPr>
        <p:spPr>
          <a:xfrm>
            <a:off x="723900" y="2343150"/>
            <a:ext cx="5043487" cy="142875"/>
          </a:xfrm>
          <a:prstGeom prst="rect">
            <a:avLst/>
          </a:prstGeom>
          <a:noFill/>
        </p:spPr>
        <p:txBody>
          <a:bodyPr wrap="square" lIns="0" rIns="0" tIns="0" bIns="0" anchor="t">
            <a:spAutoFit/>
          </a:bodyPr>
          <a:lstStyle/>
          <a:p>
            <a:pPr algn="l"/>
            <a:r>
              <a:rPr b="0" sz="900" i="0" u="none">
                <a:solidFill>
                  <a:srgbClr val="64748B"/>
                </a:solidFill>
                <a:latin typeface="Inter SemiBold"/>
              </a:rPr>
              <a:t>High-Risk Cost Ratio</a:t>
            </a:r>
          </a:p>
        </p:txBody>
      </p:sp>
      <p:sp>
        <p:nvSpPr>
          <p:cNvPr id="14" name="TextBox 13"/>
          <p:cNvSpPr txBox="1"/>
          <p:nvPr/>
        </p:nvSpPr>
        <p:spPr>
          <a:xfrm>
            <a:off x="723900" y="2543175"/>
            <a:ext cx="5043487" cy="142875"/>
          </a:xfrm>
          <a:prstGeom prst="rect">
            <a:avLst/>
          </a:prstGeom>
          <a:noFill/>
        </p:spPr>
        <p:txBody>
          <a:bodyPr wrap="square" lIns="0" rIns="0" tIns="0" bIns="0" anchor="t">
            <a:spAutoFit/>
          </a:bodyPr>
          <a:lstStyle/>
          <a:p>
            <a:pPr algn="l"/>
            <a:r>
              <a:rPr b="0" sz="900" i="0" u="none">
                <a:solidFill>
                  <a:srgbClr val="64748B"/>
                </a:solidFill>
                <a:latin typeface="Inter"/>
              </a:rPr>
              <a:t>Measures exact revenue share from top 10% admissions.</a:t>
            </a:r>
          </a:p>
        </p:txBody>
      </p:sp>
      <p:sp>
        <p:nvSpPr>
          <p:cNvPr id="15" name="TextBox 14"/>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Exclusive Custom Pipeline KPIs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6410325"/>
            <a:ext cx="12192000" cy="257175"/>
          </a:xfrm>
          <a:prstGeom prst="rect">
            <a:avLst/>
          </a:prstGeom>
        </p:spPr>
      </p:pic>
      <p:graphicFrame>
        <p:nvGraphicFramePr>
          <p:cNvPr id="4" name="Table 3"/>
          <p:cNvGraphicFramePr>
            <a:graphicFrameLocks noGrp="1"/>
          </p:cNvGraphicFramePr>
          <p:nvPr/>
        </p:nvGraphicFramePr>
        <p:xfrm>
          <a:off x="523875" y="1047750"/>
          <a:ext cx="11144248" cy="23336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336303"/>
                <a:gridCol w="2050851"/>
                <a:gridCol w="6757094"/>
              </a:tblGrid>
              <a:tr h="583406">
                <a:tc>
                  <a:txBody>
                    <a:bodyPr/>
                    <a:lstStyle/>
                    <a:p>
                      <a:pPr algn="l"/>
                      <a:r>
                        <a:rPr b="0" sz="1050" i="0" u="none">
                          <a:solidFill>
                            <a:srgbClr val="0F172A"/>
                          </a:solidFill>
                          <a:latin typeface="Inter SemiBold"/>
                        </a:rPr>
                        <a:t>Key Analytical Finding</a:t>
                      </a:r>
                    </a:p>
                  </a:txBody>
                  <a:tcPr anchor="ctr" marL="63500" marR="63500" marT="25400" marB="25400">
                    <a:lnL>
                      <a:noFill/>
                    </a:lnL>
                    <a:lnR>
                      <a:noFill/>
                    </a:lnR>
                    <a:lnT>
                      <a:noFill/>
                    </a:lnT>
                    <a:lnB>
                      <a:noFill/>
                    </a:lnB>
                    <a:solidFill>
                      <a:srgbClr val="F1F5F9"/>
                    </a:solidFill>
                  </a:tcPr>
                </a:tc>
                <a:tc>
                  <a:txBody>
                    <a:bodyPr/>
                    <a:lstStyle/>
                    <a:p>
                      <a:pPr algn="l"/>
                      <a:r>
                        <a:rPr b="0" sz="1050" i="0" u="none">
                          <a:solidFill>
                            <a:srgbClr val="0F172A"/>
                          </a:solidFill>
                          <a:latin typeface="Inter SemiBold"/>
                        </a:rPr>
                        <a:t>Statistical Evidence</a:t>
                      </a:r>
                    </a:p>
                  </a:txBody>
                  <a:tcPr anchor="ctr" marL="63500" marR="63500" marT="25400" marB="25400">
                    <a:lnL>
                      <a:noFill/>
                    </a:lnL>
                    <a:lnR>
                      <a:noFill/>
                    </a:lnR>
                    <a:lnT>
                      <a:noFill/>
                    </a:lnT>
                    <a:lnB>
                      <a:noFill/>
                    </a:lnB>
                    <a:solidFill>
                      <a:srgbClr val="F1F5F9"/>
                    </a:solidFill>
                  </a:tcPr>
                </a:tc>
                <a:tc>
                  <a:txBody>
                    <a:bodyPr/>
                    <a:lstStyle/>
                    <a:p>
                      <a:pPr algn="l"/>
                      <a:r>
                        <a:rPr b="0" sz="1050" i="0" u="none">
                          <a:solidFill>
                            <a:srgbClr val="0F172A"/>
                          </a:solidFill>
                          <a:latin typeface="Inter SemiBold"/>
                        </a:rPr>
                        <a:t>Strategic Actionable Response</a:t>
                      </a:r>
                    </a:p>
                  </a:txBody>
                  <a:tcPr anchor="ctr" marL="63500" marR="63500" marT="25400" marB="25400">
                    <a:lnL>
                      <a:noFill/>
                    </a:lnL>
                    <a:lnR>
                      <a:noFill/>
                    </a:lnR>
                    <a:lnT>
                      <a:noFill/>
                    </a:lnT>
                    <a:lnB>
                      <a:noFill/>
                    </a:lnB>
                    <a:solidFill>
                      <a:srgbClr val="F1F5F9"/>
                    </a:solidFill>
                  </a:tcPr>
                </a:tc>
              </a:tr>
              <a:tr h="583406">
                <a:tc>
                  <a:txBody>
                    <a:bodyPr/>
                    <a:lstStyle/>
                    <a:p>
                      <a:pPr algn="l"/>
                      <a:r>
                        <a:rPr b="1" sz="1050" i="0" u="none">
                          <a:solidFill>
                            <a:srgbClr val="334155"/>
                          </a:solidFill>
                          <a:latin typeface="Inter"/>
                        </a:rPr>
                        <a:t>Urgent Admissions Cost &amp; Stay</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Inter"/>
                        </a:rPr>
                        <a:t>$29,626 avg | 15.1 days</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Inter"/>
                        </a:rPr>
                        <a:t>Prioritize specialized case management and resource planning for urgent cases.</a:t>
                      </a:r>
                    </a:p>
                  </a:txBody>
                  <a:tcPr anchor="ctr" marL="63500" marR="63500" marT="25400" marB="25400">
                    <a:lnL>
                      <a:noFill/>
                    </a:lnL>
                    <a:lnR>
                      <a:noFill/>
                    </a:lnR>
                    <a:lnT>
                      <a:noFill/>
                    </a:lnT>
                    <a:lnB>
                      <a:noFill/>
                    </a:lnB>
                    <a:noFill/>
                  </a:tcPr>
                </a:tc>
              </a:tr>
              <a:tr h="583406">
                <a:tc>
                  <a:txBody>
                    <a:bodyPr/>
                    <a:lstStyle/>
                    <a:p>
                      <a:pPr algn="l"/>
                      <a:r>
                        <a:rPr b="1" sz="1050" i="0" u="none">
                          <a:solidFill>
                            <a:srgbClr val="334155"/>
                          </a:solidFill>
                          <a:latin typeface="Inter"/>
                        </a:rPr>
                        <a:t>Duration vs. Cost Disconnect</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Inter"/>
                        </a:rPr>
                        <a:t>r = -0.01 correlation</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Inter"/>
                        </a:rPr>
                        <a:t>Investigate condition-specific and procedure-level cost drivers instead of focusing solely on stay length.</a:t>
                      </a:r>
                    </a:p>
                  </a:txBody>
                  <a:tcPr anchor="ctr" marL="63500" marR="63500" marT="25400" marB="25400">
                    <a:lnL>
                      <a:noFill/>
                    </a:lnL>
                    <a:lnR>
                      <a:noFill/>
                    </a:lnR>
                    <a:lnT>
                      <a:noFill/>
                    </a:lnT>
                    <a:lnB>
                      <a:noFill/>
                    </a:lnB>
                    <a:noFill/>
                  </a:tcPr>
                </a:tc>
              </a:tr>
              <a:tr h="583407">
                <a:tc>
                  <a:txBody>
                    <a:bodyPr/>
                    <a:lstStyle/>
                    <a:p>
                      <a:pPr algn="l"/>
                      <a:r>
                        <a:rPr b="1" sz="1050" i="0" u="none">
                          <a:solidFill>
                            <a:srgbClr val="334155"/>
                          </a:solidFill>
                          <a:latin typeface="Inter"/>
                        </a:rPr>
                        <a:t>Facility Outlier Discrepancies</a:t>
                      </a:r>
                    </a:p>
                  </a:txBody>
                  <a:tcPr anchor="ctr" marL="63500" marR="63500" marT="25400" marB="25400">
                    <a:lnL>
                      <a:noFill/>
                    </a:lnL>
                    <a:lnR>
                      <a:noFill/>
                    </a:lnR>
                    <a:lnT>
                      <a:noFill/>
                    </a:lnT>
                    <a:lnB>
                      <a:noFill/>
                    </a:lnB>
                    <a:noFill/>
                  </a:tcPr>
                </a:tc>
                <a:tc>
                  <a:txBody>
                    <a:bodyPr/>
                    <a:lstStyle/>
                    <a:p>
                      <a:pPr algn="l"/>
                      <a:r>
                        <a:rPr b="0" sz="1050" i="0" u="none">
                          <a:solidFill>
                            <a:srgbClr val="991B1B"/>
                          </a:solidFill>
                          <a:latin typeface="Inter"/>
                        </a:rPr>
                        <a:t>Ross LLC (19.5d) &amp; Davis ($30k)</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Inter"/>
                        </a:rPr>
                        <a:t>Review internal operational, clinical, and billing practices across outlying facilities.</a:t>
                      </a:r>
                    </a:p>
                  </a:txBody>
                  <a:tcPr anchor="ctr" marL="63500" marR="63500" marT="25400" marB="25400">
                    <a:lnL>
                      <a:noFill/>
                    </a:lnL>
                    <a:lnR>
                      <a:noFill/>
                    </a:lnR>
                    <a:lnT>
                      <a:noFill/>
                    </a:lnT>
                    <a:lnB>
                      <a:noFill/>
                    </a:lnB>
                    <a:noFill/>
                  </a:tcPr>
                </a:tc>
              </a:tr>
            </a:tbl>
          </a:graphicData>
        </a:graphic>
      </p:graphicFrame>
      <p:sp>
        <p:nvSpPr>
          <p:cNvPr id="5" name="TextBox 4"/>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6" name="TextBox 5"/>
          <p:cNvSpPr txBox="1"/>
          <p:nvPr/>
        </p:nvSpPr>
        <p:spPr>
          <a:xfrm>
            <a:off x="123348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12</a:t>
            </a:r>
          </a:p>
        </p:txBody>
      </p:sp>
      <p:sp>
        <p:nvSpPr>
          <p:cNvPr id="7" name="Rectangle 6"/>
          <p:cNvSpPr/>
          <p:nvPr/>
        </p:nvSpPr>
        <p:spPr>
          <a:xfrm>
            <a:off x="523875" y="1466850"/>
            <a:ext cx="2336303"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60178" y="1466850"/>
            <a:ext cx="205085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11030" y="1466850"/>
            <a:ext cx="6757094"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3875" y="2119312"/>
            <a:ext cx="233630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60178" y="2119312"/>
            <a:ext cx="20508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11030" y="2119312"/>
            <a:ext cx="67570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3875" y="2757487"/>
            <a:ext cx="233630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60178" y="2757487"/>
            <a:ext cx="20508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11030" y="2757487"/>
            <a:ext cx="67570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3875" y="3367087"/>
            <a:ext cx="233630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60178" y="3367087"/>
            <a:ext cx="20508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11030" y="3367087"/>
            <a:ext cx="67570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4"/>
          <a:stretch>
            <a:fillRect/>
          </a:stretch>
        </p:blipFill>
        <p:spPr>
          <a:xfrm>
            <a:off x="3003053" y="1707356"/>
            <a:ext cx="1352550" cy="214312"/>
          </a:xfrm>
          <a:prstGeom prst="rect">
            <a:avLst/>
          </a:prstGeom>
        </p:spPr>
      </p:pic>
      <p:pic>
        <p:nvPicPr>
          <p:cNvPr id="20" name="Picture 19" descr="image.png"/>
          <p:cNvPicPr>
            <a:picLocks noChangeAspect="1"/>
          </p:cNvPicPr>
          <p:nvPr/>
        </p:nvPicPr>
        <p:blipFill>
          <a:blip r:embed="rId5"/>
          <a:stretch>
            <a:fillRect/>
          </a:stretch>
        </p:blipFill>
        <p:spPr>
          <a:xfrm>
            <a:off x="3003053" y="2345531"/>
            <a:ext cx="1162050" cy="214312"/>
          </a:xfrm>
          <a:prstGeom prst="rect">
            <a:avLst/>
          </a:prstGeom>
        </p:spPr>
      </p:pic>
      <p:pic>
        <p:nvPicPr>
          <p:cNvPr id="21" name="Picture 20" descr="image.png"/>
          <p:cNvPicPr>
            <a:picLocks noChangeAspect="1"/>
          </p:cNvPicPr>
          <p:nvPr/>
        </p:nvPicPr>
        <p:blipFill>
          <a:blip r:embed="rId6"/>
          <a:stretch>
            <a:fillRect/>
          </a:stretch>
        </p:blipFill>
        <p:spPr>
          <a:xfrm>
            <a:off x="3003053" y="2886075"/>
            <a:ext cx="1765101" cy="371475"/>
          </a:xfrm>
          <a:prstGeom prst="rect">
            <a:avLst/>
          </a:prstGeom>
        </p:spPr>
      </p:pic>
      <p:sp>
        <p:nvSpPr>
          <p:cNvPr id="22" name="TextBox 21"/>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Analytical Findings &amp; Action Mapping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5500687" cy="1423987"/>
          </a:xfrm>
          <a:prstGeom prst="rect">
            <a:avLst/>
          </a:prstGeom>
        </p:spPr>
      </p:pic>
      <p:pic>
        <p:nvPicPr>
          <p:cNvPr id="4" name="Picture 3" descr="image.png"/>
          <p:cNvPicPr>
            <a:picLocks noChangeAspect="1"/>
          </p:cNvPicPr>
          <p:nvPr/>
        </p:nvPicPr>
        <p:blipFill>
          <a:blip r:embed="rId4"/>
          <a:stretch>
            <a:fillRect/>
          </a:stretch>
        </p:blipFill>
        <p:spPr>
          <a:xfrm>
            <a:off x="6167437" y="1000125"/>
            <a:ext cx="5500687" cy="1423987"/>
          </a:xfrm>
          <a:prstGeom prst="rect">
            <a:avLst/>
          </a:prstGeom>
        </p:spPr>
      </p:pic>
      <p:pic>
        <p:nvPicPr>
          <p:cNvPr id="5" name="Picture 4" descr="image.png"/>
          <p:cNvPicPr>
            <a:picLocks noChangeAspect="1"/>
          </p:cNvPicPr>
          <p:nvPr/>
        </p:nvPicPr>
        <p:blipFill>
          <a:blip r:embed="rId5"/>
          <a:stretch>
            <a:fillRect/>
          </a:stretch>
        </p:blipFill>
        <p:spPr>
          <a:xfrm>
            <a:off x="523875" y="2566987"/>
            <a:ext cx="5500687" cy="1423987"/>
          </a:xfrm>
          <a:prstGeom prst="rect">
            <a:avLst/>
          </a:prstGeom>
        </p:spPr>
      </p:pic>
      <p:pic>
        <p:nvPicPr>
          <p:cNvPr id="6" name="Picture 5" descr="image.png"/>
          <p:cNvPicPr>
            <a:picLocks noChangeAspect="1"/>
          </p:cNvPicPr>
          <p:nvPr/>
        </p:nvPicPr>
        <p:blipFill>
          <a:blip r:embed="rId6"/>
          <a:stretch>
            <a:fillRect/>
          </a:stretch>
        </p:blipFill>
        <p:spPr>
          <a:xfrm>
            <a:off x="6167437" y="2566987"/>
            <a:ext cx="5500687" cy="1423987"/>
          </a:xfrm>
          <a:prstGeom prst="rect">
            <a:avLst/>
          </a:prstGeom>
        </p:spPr>
      </p:pic>
      <p:pic>
        <p:nvPicPr>
          <p:cNvPr id="7" name="Picture 6" descr="image.png"/>
          <p:cNvPicPr>
            <a:picLocks noChangeAspect="1"/>
          </p:cNvPicPr>
          <p:nvPr/>
        </p:nvPicPr>
        <p:blipFill>
          <a:blip r:embed="rId7"/>
          <a:stretch>
            <a:fillRect/>
          </a:stretch>
        </p:blipFill>
        <p:spPr>
          <a:xfrm>
            <a:off x="523875" y="6410325"/>
            <a:ext cx="12192000" cy="257175"/>
          </a:xfrm>
          <a:prstGeom prst="rect">
            <a:avLst/>
          </a:prstGeom>
        </p:spPr>
      </p:pic>
      <p:sp>
        <p:nvSpPr>
          <p:cNvPr id="8" name="TextBox 7"/>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9" name="TextBox 8"/>
          <p:cNvSpPr txBox="1"/>
          <p:nvPr/>
        </p:nvSpPr>
        <p:spPr>
          <a:xfrm>
            <a:off x="123348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13</a:t>
            </a:r>
          </a:p>
        </p:txBody>
      </p:sp>
      <p:sp>
        <p:nvSpPr>
          <p:cNvPr id="10" name="TextBox 9"/>
          <p:cNvSpPr txBox="1"/>
          <p:nvPr/>
        </p:nvSpPr>
        <p:spPr>
          <a:xfrm>
            <a:off x="1038225" y="1219200"/>
            <a:ext cx="5005625"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Hospital Administrators</a:t>
            </a:r>
          </a:p>
        </p:txBody>
      </p:sp>
      <p:sp>
        <p:nvSpPr>
          <p:cNvPr id="11" name="TextBox 10"/>
          <p:cNvSpPr txBox="1"/>
          <p:nvPr/>
        </p:nvSpPr>
        <p:spPr>
          <a:xfrm>
            <a:off x="742950" y="1562100"/>
            <a:ext cx="5062537" cy="642937"/>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Pilot enhanced case management protocols specifically for urgent admissions, which demonstrate the highest average costs and longest hospital stays.</a:t>
            </a:r>
          </a:p>
        </p:txBody>
      </p:sp>
      <p:sp>
        <p:nvSpPr>
          <p:cNvPr id="12" name="TextBox 11"/>
          <p:cNvSpPr txBox="1"/>
          <p:nvPr/>
        </p:nvSpPr>
        <p:spPr>
          <a:xfrm>
            <a:off x="6615112" y="1219200"/>
            <a:ext cx="5075634"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Finance &amp; Cost Teams</a:t>
            </a:r>
          </a:p>
        </p:txBody>
      </p:sp>
      <p:sp>
        <p:nvSpPr>
          <p:cNvPr id="13" name="TextBox 12"/>
          <p:cNvSpPr txBox="1"/>
          <p:nvPr/>
        </p:nvSpPr>
        <p:spPr>
          <a:xfrm>
            <a:off x="6386512" y="1562100"/>
            <a:ext cx="5062537" cy="428625"/>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Investigate condition-specific and procedure-level cost drivers deeply, recognizing that length of stay alone does not explain billing variation.</a:t>
            </a:r>
          </a:p>
        </p:txBody>
      </p:sp>
      <p:sp>
        <p:nvSpPr>
          <p:cNvPr id="14" name="TextBox 13"/>
          <p:cNvSpPr txBox="1"/>
          <p:nvPr/>
        </p:nvSpPr>
        <p:spPr>
          <a:xfrm>
            <a:off x="1019175" y="2786062"/>
            <a:ext cx="5025628"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Hospital Leadership</a:t>
            </a:r>
          </a:p>
        </p:txBody>
      </p:sp>
      <p:sp>
        <p:nvSpPr>
          <p:cNvPr id="15" name="TextBox 14"/>
          <p:cNvSpPr txBox="1"/>
          <p:nvPr/>
        </p:nvSpPr>
        <p:spPr>
          <a:xfrm>
            <a:off x="742950" y="3128962"/>
            <a:ext cx="5062537" cy="642937"/>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Ross LLC leadership should review internal length-of-stay practices, while Davis Group leadership should review billing structures given gaps versus peers.</a:t>
            </a:r>
          </a:p>
        </p:txBody>
      </p:sp>
      <p:sp>
        <p:nvSpPr>
          <p:cNvPr id="16" name="TextBox 15"/>
          <p:cNvSpPr txBox="1"/>
          <p:nvPr/>
        </p:nvSpPr>
        <p:spPr>
          <a:xfrm>
            <a:off x="6662737" y="2786062"/>
            <a:ext cx="5025628"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Insurance Teams</a:t>
            </a:r>
          </a:p>
        </p:txBody>
      </p:sp>
      <p:sp>
        <p:nvSpPr>
          <p:cNvPr id="17" name="TextBox 16"/>
          <p:cNvSpPr txBox="1"/>
          <p:nvPr/>
        </p:nvSpPr>
        <p:spPr>
          <a:xfrm>
            <a:off x="6386512" y="3128962"/>
            <a:ext cx="5062537" cy="428625"/>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Examine cost variations across providers (such as Blue Cross and Cigna) to better understand provider-specific risk exposure and pricing impacts.</a:t>
            </a:r>
          </a:p>
        </p:txBody>
      </p:sp>
      <p:pic>
        <p:nvPicPr>
          <p:cNvPr id="18" name="Picture 17" descr="image.png"/>
          <p:cNvPicPr>
            <a:picLocks noChangeAspect="1"/>
          </p:cNvPicPr>
          <p:nvPr/>
        </p:nvPicPr>
        <p:blipFill>
          <a:blip r:embed="rId8"/>
          <a:stretch>
            <a:fillRect/>
          </a:stretch>
        </p:blipFill>
        <p:spPr>
          <a:xfrm>
            <a:off x="742950" y="1243012"/>
            <a:ext cx="200025" cy="180975"/>
          </a:xfrm>
          <a:prstGeom prst="rect">
            <a:avLst/>
          </a:prstGeom>
        </p:spPr>
      </p:pic>
      <p:pic>
        <p:nvPicPr>
          <p:cNvPr id="19" name="Picture 18" descr="image.png"/>
          <p:cNvPicPr>
            <a:picLocks noChangeAspect="1"/>
          </p:cNvPicPr>
          <p:nvPr/>
        </p:nvPicPr>
        <p:blipFill>
          <a:blip r:embed="rId9"/>
          <a:stretch>
            <a:fillRect/>
          </a:stretch>
        </p:blipFill>
        <p:spPr>
          <a:xfrm>
            <a:off x="6386512" y="1243012"/>
            <a:ext cx="133350" cy="180975"/>
          </a:xfrm>
          <a:prstGeom prst="rect">
            <a:avLst/>
          </a:prstGeom>
        </p:spPr>
      </p:pic>
      <p:pic>
        <p:nvPicPr>
          <p:cNvPr id="20" name="Picture 19" descr="image.png"/>
          <p:cNvPicPr>
            <a:picLocks noChangeAspect="1"/>
          </p:cNvPicPr>
          <p:nvPr/>
        </p:nvPicPr>
        <p:blipFill>
          <a:blip r:embed="rId10"/>
          <a:stretch>
            <a:fillRect/>
          </a:stretch>
        </p:blipFill>
        <p:spPr>
          <a:xfrm>
            <a:off x="742950" y="2809875"/>
            <a:ext cx="180975" cy="180975"/>
          </a:xfrm>
          <a:prstGeom prst="rect">
            <a:avLst/>
          </a:prstGeom>
        </p:spPr>
      </p:pic>
      <p:pic>
        <p:nvPicPr>
          <p:cNvPr id="21" name="Picture 20" descr="image.png"/>
          <p:cNvPicPr>
            <a:picLocks noChangeAspect="1"/>
          </p:cNvPicPr>
          <p:nvPr/>
        </p:nvPicPr>
        <p:blipFill>
          <a:blip r:embed="rId11"/>
          <a:stretch>
            <a:fillRect/>
          </a:stretch>
        </p:blipFill>
        <p:spPr>
          <a:xfrm>
            <a:off x="6386512" y="2809875"/>
            <a:ext cx="180975" cy="180975"/>
          </a:xfrm>
          <a:prstGeom prst="rect">
            <a:avLst/>
          </a:prstGeom>
        </p:spPr>
      </p:pic>
      <p:sp>
        <p:nvSpPr>
          <p:cNvPr id="22" name="TextBox 21"/>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Tailored Stakeholder Recommendations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00125"/>
            <a:ext cx="5405437" cy="2357437"/>
          </a:xfrm>
          <a:prstGeom prst="rect">
            <a:avLst/>
          </a:prstGeom>
        </p:spPr>
      </p:pic>
      <p:pic>
        <p:nvPicPr>
          <p:cNvPr id="4" name="Picture 3" descr="image.png"/>
          <p:cNvPicPr>
            <a:picLocks noChangeAspect="1"/>
          </p:cNvPicPr>
          <p:nvPr/>
        </p:nvPicPr>
        <p:blipFill>
          <a:blip r:embed="rId4"/>
          <a:stretch>
            <a:fillRect/>
          </a:stretch>
        </p:blipFill>
        <p:spPr>
          <a:xfrm>
            <a:off x="6262687" y="1000125"/>
            <a:ext cx="5405437" cy="2357437"/>
          </a:xfrm>
          <a:prstGeom prst="rect">
            <a:avLst/>
          </a:prstGeom>
        </p:spPr>
      </p:pic>
      <p:pic>
        <p:nvPicPr>
          <p:cNvPr id="5" name="Picture 4" descr="image.png"/>
          <p:cNvPicPr>
            <a:picLocks noChangeAspect="1"/>
          </p:cNvPicPr>
          <p:nvPr/>
        </p:nvPicPr>
        <p:blipFill>
          <a:blip r:embed="rId5"/>
          <a:stretch>
            <a:fillRect/>
          </a:stretch>
        </p:blipFill>
        <p:spPr>
          <a:xfrm>
            <a:off x="523875" y="6410325"/>
            <a:ext cx="12192000" cy="257175"/>
          </a:xfrm>
          <a:prstGeom prst="rect">
            <a:avLst/>
          </a:prstGeom>
        </p:spPr>
      </p:pic>
      <p:sp>
        <p:nvSpPr>
          <p:cNvPr id="6" name="TextBox 5"/>
          <p:cNvSpPr txBox="1"/>
          <p:nvPr/>
        </p:nvSpPr>
        <p:spPr>
          <a:xfrm>
            <a:off x="523875" y="6534150"/>
            <a:ext cx="2266950" cy="133350"/>
          </a:xfrm>
          <a:prstGeom prst="rect">
            <a:avLst/>
          </a:prstGeom>
          <a:noFill/>
        </p:spPr>
        <p:txBody>
          <a:bodyPr wrap="square" lIns="0" rIns="0" tIns="0" bIns="0" anchor="t">
            <a:spAutoFit/>
          </a:bodyPr>
          <a:lstStyle/>
          <a:p>
            <a:pPr algn="l"/>
            <a:r>
              <a:rPr b="0" sz="825" i="0" u="none">
                <a:solidFill>
                  <a:srgbClr val="94A3B8"/>
                </a:solidFill>
                <a:latin typeface="Inter"/>
              </a:rPr>
              <a:t>Healthcare Admission &amp; Billing Cost Analysis</a:t>
            </a:r>
          </a:p>
        </p:txBody>
      </p:sp>
      <p:sp>
        <p:nvSpPr>
          <p:cNvPr id="7" name="TextBox 6"/>
          <p:cNvSpPr txBox="1"/>
          <p:nvPr/>
        </p:nvSpPr>
        <p:spPr>
          <a:xfrm>
            <a:off x="123348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14</a:t>
            </a:r>
          </a:p>
        </p:txBody>
      </p:sp>
      <p:sp>
        <p:nvSpPr>
          <p:cNvPr id="8" name="TextBox 7"/>
          <p:cNvSpPr txBox="1"/>
          <p:nvPr/>
        </p:nvSpPr>
        <p:spPr>
          <a:xfrm>
            <a:off x="1019175" y="1247775"/>
            <a:ext cx="4925615"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Analytical Limitations</a:t>
            </a:r>
          </a:p>
        </p:txBody>
      </p:sp>
      <p:sp>
        <p:nvSpPr>
          <p:cNvPr id="9" name="TextBox 8"/>
          <p:cNvSpPr txBox="1"/>
          <p:nvPr/>
        </p:nvSpPr>
        <p:spPr>
          <a:xfrm>
            <a:off x="6757987" y="1247775"/>
            <a:ext cx="4925615" cy="228600"/>
          </a:xfrm>
          <a:prstGeom prst="rect">
            <a:avLst/>
          </a:prstGeom>
          <a:noFill/>
        </p:spPr>
        <p:txBody>
          <a:bodyPr wrap="square" lIns="0" rIns="0" tIns="0" bIns="0" anchor="ctr">
            <a:spAutoFit/>
          </a:bodyPr>
          <a:lstStyle/>
          <a:p>
            <a:pPr algn="l"/>
            <a:r>
              <a:rPr b="0" sz="1425" i="0" u="none">
                <a:solidFill>
                  <a:srgbClr val="0F172A"/>
                </a:solidFill>
                <a:latin typeface="Plus Jakarta Sans SemiBold"/>
              </a:rPr>
              <a:t>Recommended Next Steps</a:t>
            </a:r>
          </a:p>
        </p:txBody>
      </p:sp>
      <p:pic>
        <p:nvPicPr>
          <p:cNvPr id="10" name="Picture 9" descr="image.png"/>
          <p:cNvPicPr>
            <a:picLocks noChangeAspect="1"/>
          </p:cNvPicPr>
          <p:nvPr/>
        </p:nvPicPr>
        <p:blipFill>
          <a:blip r:embed="rId6"/>
          <a:stretch>
            <a:fillRect/>
          </a:stretch>
        </p:blipFill>
        <p:spPr>
          <a:xfrm>
            <a:off x="742950" y="1271587"/>
            <a:ext cx="180975" cy="180975"/>
          </a:xfrm>
          <a:prstGeom prst="rect">
            <a:avLst/>
          </a:prstGeom>
        </p:spPr>
      </p:pic>
      <p:sp>
        <p:nvSpPr>
          <p:cNvPr id="11" name="TextBox 10"/>
          <p:cNvSpPr txBox="1"/>
          <p:nvPr/>
        </p:nvSpPr>
        <p:spPr>
          <a:xfrm>
            <a:off x="838200" y="1740693"/>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2" name="TextBox 11"/>
          <p:cNvSpPr txBox="1"/>
          <p:nvPr/>
        </p:nvSpPr>
        <p:spPr>
          <a:xfrm>
            <a:off x="914400" y="1743075"/>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Historical records restricted to Jan 2024 – Dec 2026</a:t>
            </a:r>
          </a:p>
        </p:txBody>
      </p:sp>
      <p:sp>
        <p:nvSpPr>
          <p:cNvPr id="13" name="TextBox 12"/>
          <p:cNvSpPr txBox="1"/>
          <p:nvPr/>
        </p:nvSpPr>
        <p:spPr>
          <a:xfrm>
            <a:off x="838200" y="2012156"/>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4" name="TextBox 13"/>
          <p:cNvSpPr txBox="1"/>
          <p:nvPr/>
        </p:nvSpPr>
        <p:spPr>
          <a:xfrm>
            <a:off x="914400" y="2014537"/>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Presence of "Unknown" category values post-cleansing</a:t>
            </a:r>
          </a:p>
        </p:txBody>
      </p:sp>
      <p:sp>
        <p:nvSpPr>
          <p:cNvPr id="15" name="TextBox 14"/>
          <p:cNvSpPr txBox="1"/>
          <p:nvPr/>
        </p:nvSpPr>
        <p:spPr>
          <a:xfrm>
            <a:off x="838200" y="2283618"/>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6" name="TextBox 15"/>
          <p:cNvSpPr txBox="1"/>
          <p:nvPr/>
        </p:nvSpPr>
        <p:spPr>
          <a:xfrm>
            <a:off x="914400" y="2286000"/>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Analysis identifies statistical associations rather than direct causation</a:t>
            </a:r>
          </a:p>
        </p:txBody>
      </p:sp>
      <p:sp>
        <p:nvSpPr>
          <p:cNvPr id="17" name="TextBox 16"/>
          <p:cNvSpPr txBox="1"/>
          <p:nvPr/>
        </p:nvSpPr>
        <p:spPr>
          <a:xfrm>
            <a:off x="838200" y="2555081"/>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18" name="TextBox 17"/>
          <p:cNvSpPr txBox="1"/>
          <p:nvPr/>
        </p:nvSpPr>
        <p:spPr>
          <a:xfrm>
            <a:off x="914400" y="2557462"/>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Exclusion of certain fine-grained clinical variables</a:t>
            </a:r>
          </a:p>
        </p:txBody>
      </p:sp>
      <p:pic>
        <p:nvPicPr>
          <p:cNvPr id="19" name="Picture 18" descr="image.png"/>
          <p:cNvPicPr>
            <a:picLocks noChangeAspect="1"/>
          </p:cNvPicPr>
          <p:nvPr/>
        </p:nvPicPr>
        <p:blipFill>
          <a:blip r:embed="rId7"/>
          <a:stretch>
            <a:fillRect/>
          </a:stretch>
        </p:blipFill>
        <p:spPr>
          <a:xfrm>
            <a:off x="6481762" y="1271587"/>
            <a:ext cx="180975" cy="180975"/>
          </a:xfrm>
          <a:prstGeom prst="rect">
            <a:avLst/>
          </a:prstGeom>
        </p:spPr>
      </p:pic>
      <p:sp>
        <p:nvSpPr>
          <p:cNvPr id="20" name="TextBox 19"/>
          <p:cNvSpPr txBox="1"/>
          <p:nvPr/>
        </p:nvSpPr>
        <p:spPr>
          <a:xfrm>
            <a:off x="6577012" y="1740693"/>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21" name="TextBox 20"/>
          <p:cNvSpPr txBox="1"/>
          <p:nvPr/>
        </p:nvSpPr>
        <p:spPr>
          <a:xfrm>
            <a:off x="6653212" y="1743075"/>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Incorporate more recent admission datasets for longitudinal tracking</a:t>
            </a:r>
          </a:p>
        </p:txBody>
      </p:sp>
      <p:sp>
        <p:nvSpPr>
          <p:cNvPr id="22" name="TextBox 21"/>
          <p:cNvSpPr txBox="1"/>
          <p:nvPr/>
        </p:nvSpPr>
        <p:spPr>
          <a:xfrm>
            <a:off x="6577012" y="2012156"/>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23" name="TextBox 22"/>
          <p:cNvSpPr txBox="1"/>
          <p:nvPr/>
        </p:nvSpPr>
        <p:spPr>
          <a:xfrm>
            <a:off x="6653212" y="2014537"/>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Deep-dive into procedure-level and physician-specific cost drivers</a:t>
            </a:r>
          </a:p>
        </p:txBody>
      </p:sp>
      <p:sp>
        <p:nvSpPr>
          <p:cNvPr id="24" name="TextBox 23"/>
          <p:cNvSpPr txBox="1"/>
          <p:nvPr/>
        </p:nvSpPr>
        <p:spPr>
          <a:xfrm>
            <a:off x="6577012" y="2283618"/>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25" name="TextBox 24"/>
          <p:cNvSpPr txBox="1"/>
          <p:nvPr/>
        </p:nvSpPr>
        <p:spPr>
          <a:xfrm>
            <a:off x="6653212" y="2286000"/>
            <a:ext cx="4795837" cy="428625"/>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Build predictive machine learning models for expected admission billing costs</a:t>
            </a:r>
          </a:p>
        </p:txBody>
      </p:sp>
      <p:sp>
        <p:nvSpPr>
          <p:cNvPr id="26" name="TextBox 25"/>
          <p:cNvSpPr txBox="1"/>
          <p:nvPr/>
        </p:nvSpPr>
        <p:spPr>
          <a:xfrm>
            <a:off x="6577012" y="2769393"/>
            <a:ext cx="76200" cy="219075"/>
          </a:xfrm>
          <a:prstGeom prst="rect">
            <a:avLst/>
          </a:prstGeom>
          <a:noFill/>
        </p:spPr>
        <p:txBody>
          <a:bodyPr wrap="square" lIns="0" rIns="0" tIns="0" bIns="0" anchor="t">
            <a:spAutoFit/>
          </a:bodyPr>
          <a:lstStyle/>
          <a:p>
            <a:pPr algn="l"/>
            <a:r>
              <a:rPr b="0" sz="1125" i="0" u="none">
                <a:solidFill>
                  <a:srgbClr val="475569"/>
                </a:solidFill>
                <a:latin typeface="Inter"/>
              </a:rPr>
              <a:t>•</a:t>
            </a:r>
          </a:p>
        </p:txBody>
      </p:sp>
      <p:sp>
        <p:nvSpPr>
          <p:cNvPr id="27" name="TextBox 26"/>
          <p:cNvSpPr txBox="1"/>
          <p:nvPr/>
        </p:nvSpPr>
        <p:spPr>
          <a:xfrm>
            <a:off x="6653212" y="2771775"/>
            <a:ext cx="4795837" cy="214312"/>
          </a:xfrm>
          <a:prstGeom prst="rect">
            <a:avLst/>
          </a:prstGeom>
          <a:noFill/>
        </p:spPr>
        <p:txBody>
          <a:bodyPr wrap="square" lIns="76200" rIns="0" tIns="0" bIns="0" anchor="t">
            <a:spAutoFit/>
          </a:bodyPr>
          <a:lstStyle/>
          <a:p>
            <a:pPr algn="l">
              <a:lnSpc>
                <a:spcPts val="1687"/>
              </a:lnSpc>
            </a:pPr>
            <a:r>
              <a:rPr b="0" sz="1125" i="0" u="none">
                <a:solidFill>
                  <a:srgbClr val="475569"/>
                </a:solidFill>
                <a:latin typeface="Inter"/>
              </a:rPr>
              <a:t>Validate hospital differences via A/B testing of care protocols</a:t>
            </a:r>
          </a:p>
        </p:txBody>
      </p:sp>
      <p:sp>
        <p:nvSpPr>
          <p:cNvPr id="28" name="TextBox 27"/>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Study Limitations &amp; Recommended Next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809750" y="3181350"/>
            <a:ext cx="8572500" cy="1562100"/>
          </a:xfrm>
          <a:prstGeom prst="rect">
            <a:avLst/>
          </a:prstGeom>
        </p:spPr>
      </p:pic>
      <p:pic>
        <p:nvPicPr>
          <p:cNvPr id="4" name="Picture 3" descr="image.png"/>
          <p:cNvPicPr>
            <a:picLocks noChangeAspect="1"/>
          </p:cNvPicPr>
          <p:nvPr/>
        </p:nvPicPr>
        <p:blipFill>
          <a:blip r:embed="rId4"/>
          <a:stretch>
            <a:fillRect/>
          </a:stretch>
        </p:blipFill>
        <p:spPr>
          <a:xfrm>
            <a:off x="523875" y="6410325"/>
            <a:ext cx="12192000" cy="257175"/>
          </a:xfrm>
          <a:prstGeom prst="rect">
            <a:avLst/>
          </a:prstGeom>
        </p:spPr>
      </p:pic>
      <p:sp>
        <p:nvSpPr>
          <p:cNvPr id="5" name="TextBox 4"/>
          <p:cNvSpPr txBox="1"/>
          <p:nvPr/>
        </p:nvSpPr>
        <p:spPr>
          <a:xfrm>
            <a:off x="3295650" y="2686050"/>
            <a:ext cx="5600700" cy="257175"/>
          </a:xfrm>
          <a:prstGeom prst="rect">
            <a:avLst/>
          </a:prstGeom>
          <a:noFill/>
        </p:spPr>
        <p:txBody>
          <a:bodyPr wrap="square" lIns="0" rIns="0" tIns="0" bIns="0" anchor="t">
            <a:spAutoFit/>
          </a:bodyPr>
          <a:lstStyle/>
          <a:p>
            <a:pPr algn="ctr">
              <a:lnSpc>
                <a:spcPts val="2025"/>
              </a:lnSpc>
            </a:pPr>
            <a:r>
              <a:rPr b="0" sz="1350" i="0" u="none">
                <a:solidFill>
                  <a:srgbClr val="334155"/>
                </a:solidFill>
                <a:latin typeface="Inter"/>
              </a:rPr>
              <a:t>We open the floor for questions, feedback, and strategic discussion.</a:t>
            </a:r>
          </a:p>
        </p:txBody>
      </p:sp>
      <p:sp>
        <p:nvSpPr>
          <p:cNvPr id="6" name="TextBox 5"/>
          <p:cNvSpPr txBox="1"/>
          <p:nvPr/>
        </p:nvSpPr>
        <p:spPr>
          <a:xfrm>
            <a:off x="523875" y="6534150"/>
            <a:ext cx="3419475" cy="133350"/>
          </a:xfrm>
          <a:prstGeom prst="rect">
            <a:avLst/>
          </a:prstGeom>
          <a:noFill/>
        </p:spPr>
        <p:txBody>
          <a:bodyPr wrap="square" lIns="0" rIns="0" tIns="0" bIns="0" anchor="t">
            <a:spAutoFit/>
          </a:bodyPr>
          <a:lstStyle/>
          <a:p>
            <a:pPr algn="l"/>
            <a:r>
              <a:rPr b="0" sz="825" i="0" u="none">
                <a:solidFill>
                  <a:srgbClr val="94A3B8"/>
                </a:solidFill>
                <a:latin typeface="Inter"/>
              </a:rPr>
              <a:t>AuratTech Data Analyst Track | Maryam Asif, Dua Fatima, Eshaal Atif</a:t>
            </a:r>
          </a:p>
        </p:txBody>
      </p:sp>
      <p:sp>
        <p:nvSpPr>
          <p:cNvPr id="7" name="TextBox 6"/>
          <p:cNvSpPr txBox="1"/>
          <p:nvPr/>
        </p:nvSpPr>
        <p:spPr>
          <a:xfrm>
            <a:off x="12334875" y="6534150"/>
            <a:ext cx="0" cy="133350"/>
          </a:xfrm>
          <a:prstGeom prst="rect">
            <a:avLst/>
          </a:prstGeom>
          <a:noFill/>
        </p:spPr>
        <p:txBody>
          <a:bodyPr wrap="square" lIns="0" rIns="0" tIns="0" bIns="0" anchor="t">
            <a:spAutoFit/>
          </a:bodyPr>
          <a:lstStyle/>
          <a:p>
            <a:pPr algn="l"/>
            <a:r>
              <a:rPr b="0" sz="825" i="0" u="none">
                <a:solidFill>
                  <a:srgbClr val="94A3B8"/>
                </a:solidFill>
                <a:latin typeface="Inter"/>
              </a:rPr>
              <a:t>Slide 15</a:t>
            </a:r>
          </a:p>
        </p:txBody>
      </p:sp>
      <p:pic>
        <p:nvPicPr>
          <p:cNvPr id="8" name="Picture 7" descr="image.png"/>
          <p:cNvPicPr>
            <a:picLocks noChangeAspect="1"/>
          </p:cNvPicPr>
          <p:nvPr/>
        </p:nvPicPr>
        <p:blipFill>
          <a:blip r:embed="rId5"/>
          <a:stretch>
            <a:fillRect/>
          </a:stretch>
        </p:blipFill>
        <p:spPr>
          <a:xfrm>
            <a:off x="2105025" y="3429000"/>
            <a:ext cx="238125" cy="190500"/>
          </a:xfrm>
          <a:prstGeom prst="rect">
            <a:avLst/>
          </a:prstGeom>
        </p:spPr>
      </p:pic>
      <p:sp>
        <p:nvSpPr>
          <p:cNvPr id="9" name="TextBox 8"/>
          <p:cNvSpPr txBox="1"/>
          <p:nvPr/>
        </p:nvSpPr>
        <p:spPr>
          <a:xfrm>
            <a:off x="2457450" y="3429000"/>
            <a:ext cx="5705475" cy="190500"/>
          </a:xfrm>
          <a:prstGeom prst="rect">
            <a:avLst/>
          </a:prstGeom>
          <a:noFill/>
        </p:spPr>
        <p:txBody>
          <a:bodyPr wrap="square" lIns="0" rIns="0" tIns="0" bIns="0" anchor="t">
            <a:spAutoFit/>
          </a:bodyPr>
          <a:lstStyle/>
          <a:p>
            <a:pPr algn="l"/>
            <a:r>
              <a:rPr b="1" sz="1200" i="0" u="none">
                <a:solidFill>
                  <a:srgbClr val="000000"/>
                </a:solidFill>
                <a:latin typeface="Inter"/>
              </a:rPr>
              <a:t>GitHub Repository:</a:t>
            </a:r>
            <a:r>
              <a:rPr b="0" sz="1200" i="0" u="none">
                <a:solidFill>
                  <a:srgbClr val="000000"/>
                </a:solidFill>
                <a:latin typeface="Inter"/>
              </a:rPr>
              <a:t> </a:t>
            </a:r>
            <a:r>
              <a:rPr b="0" sz="1200" i="0" u="none">
                <a:solidFill>
                  <a:srgbClr val="0284C7"/>
                </a:solidFill>
                <a:latin typeface="Inter"/>
              </a:rPr>
              <a:t>github.com/eshaal22/Healthcare-Admissions-Cost-Analysis</a:t>
            </a:r>
          </a:p>
        </p:txBody>
      </p:sp>
      <p:pic>
        <p:nvPicPr>
          <p:cNvPr id="10" name="Picture 9" descr="image.png"/>
          <p:cNvPicPr>
            <a:picLocks noChangeAspect="1"/>
          </p:cNvPicPr>
          <p:nvPr/>
        </p:nvPicPr>
        <p:blipFill>
          <a:blip r:embed="rId6"/>
          <a:stretch>
            <a:fillRect/>
          </a:stretch>
        </p:blipFill>
        <p:spPr>
          <a:xfrm>
            <a:off x="2105025" y="3752850"/>
            <a:ext cx="238125" cy="190500"/>
          </a:xfrm>
          <a:prstGeom prst="rect">
            <a:avLst/>
          </a:prstGeom>
        </p:spPr>
      </p:pic>
      <p:sp>
        <p:nvSpPr>
          <p:cNvPr id="11" name="TextBox 10"/>
          <p:cNvSpPr txBox="1"/>
          <p:nvPr/>
        </p:nvSpPr>
        <p:spPr>
          <a:xfrm>
            <a:off x="2457450" y="3733800"/>
            <a:ext cx="3952875" cy="762000"/>
          </a:xfrm>
          <a:prstGeom prst="rect">
            <a:avLst/>
          </a:prstGeom>
          <a:noFill/>
        </p:spPr>
        <p:txBody>
          <a:bodyPr wrap="square" lIns="0" rIns="0" tIns="0" bIns="0" anchor="t">
            <a:spAutoFit/>
          </a:bodyPr>
          <a:lstStyle/>
          <a:p>
            <a:pPr algn="l"/>
            <a:r>
              <a:rPr b="1" sz="1200" i="0" u="none">
                <a:solidFill>
                  <a:srgbClr val="000000"/>
                </a:solidFill>
                <a:latin typeface="Inter"/>
              </a:rPr>
              <a:t>Team LinkedIn Profiles:</a:t>
            </a:r>
            <a:r>
              <a:t>
</a:t>
            </a:r>
            <a:r>
              <a:rPr b="0" sz="1200" i="0" u="none">
                <a:solidFill>
                  <a:srgbClr val="000000"/>
                </a:solidFill>
                <a:latin typeface="Inter"/>
              </a:rPr>
              <a:t> Maryam Asif: </a:t>
            </a:r>
            <a:r>
              <a:rPr b="0" sz="1200" i="0" u="none">
                <a:solidFill>
                  <a:srgbClr val="0284C7"/>
                </a:solidFill>
                <a:latin typeface="Inter"/>
              </a:rPr>
              <a:t>linkedin.com/in/maryam-asif-b43164424</a:t>
            </a:r>
            <a:r>
              <a:t>
</a:t>
            </a:r>
            <a:r>
              <a:rPr b="0" sz="1200" i="0" u="none">
                <a:solidFill>
                  <a:srgbClr val="000000"/>
                </a:solidFill>
                <a:latin typeface="Inter"/>
              </a:rPr>
              <a:t> Eshaal Atif: </a:t>
            </a:r>
            <a:r>
              <a:rPr b="0" sz="1200" i="0" u="none">
                <a:solidFill>
                  <a:srgbClr val="0284C7"/>
                </a:solidFill>
                <a:latin typeface="Inter"/>
              </a:rPr>
              <a:t>linkedin.com/in/eshaal-atif-48a9b12b6</a:t>
            </a:r>
            <a:r>
              <a:t>
</a:t>
            </a:r>
            <a:r>
              <a:rPr b="0" sz="1200" i="0" u="none">
                <a:solidFill>
                  <a:srgbClr val="000000"/>
                </a:solidFill>
                <a:latin typeface="Inter"/>
              </a:rPr>
              <a:t> Dua Fatima: </a:t>
            </a:r>
            <a:r>
              <a:rPr b="0" sz="1200" i="0" u="none">
                <a:solidFill>
                  <a:srgbClr val="0284C7"/>
                </a:solidFill>
                <a:latin typeface="Inter"/>
              </a:rPr>
              <a:t>linkedin.com/in/dua-fatimah-df17</a:t>
            </a:r>
          </a:p>
        </p:txBody>
      </p:sp>
      <p:sp>
        <p:nvSpPr>
          <p:cNvPr id="12" name="TextBox 11"/>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Thank You — Questions &amp; Discussion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143000"/>
            <a:ext cx="857250" cy="476250"/>
          </a:xfrm>
          <a:prstGeom prst="rect">
            <a:avLst/>
          </a:prstGeom>
        </p:spPr>
      </p:pic>
      <p:sp>
        <p:nvSpPr>
          <p:cNvPr id="4" name="TextBox 3"/>
          <p:cNvSpPr txBox="1"/>
          <p:nvPr/>
        </p:nvSpPr>
        <p:spPr>
          <a:xfrm>
            <a:off x="1619250" y="1150143"/>
            <a:ext cx="10048875" cy="185737"/>
          </a:xfrm>
          <a:prstGeom prst="rect">
            <a:avLst/>
          </a:prstGeom>
          <a:noFill/>
        </p:spPr>
        <p:txBody>
          <a:bodyPr wrap="square" lIns="0" rIns="0" tIns="0" bIns="0" anchor="t">
            <a:spAutoFit/>
          </a:bodyPr>
          <a:lstStyle/>
          <a:p>
            <a:pPr algn="l">
              <a:lnSpc>
                <a:spcPts val="1462"/>
              </a:lnSpc>
            </a:pPr>
            <a:r>
              <a:rPr b="0" sz="975" i="0" u="none">
                <a:solidFill>
                  <a:srgbClr val="475569"/>
                </a:solidFill>
                <a:latin typeface="Inter"/>
              </a:rPr>
              <a:t>https://graffersid.com/wp-content/uploads/2023/08/GraffersID-Case-Study-Hospital-Management-System.webp</a:t>
            </a:r>
          </a:p>
        </p:txBody>
      </p:sp>
      <p:sp>
        <p:nvSpPr>
          <p:cNvPr id="5" name="TextBox 4"/>
          <p:cNvSpPr txBox="1"/>
          <p:nvPr/>
        </p:nvSpPr>
        <p:spPr>
          <a:xfrm>
            <a:off x="1619250" y="1383506"/>
            <a:ext cx="10048875" cy="228600"/>
          </a:xfrm>
          <a:prstGeom prst="rect">
            <a:avLst/>
          </a:prstGeom>
          <a:noFill/>
        </p:spPr>
        <p:txBody>
          <a:bodyPr wrap="square" lIns="0" rIns="0" tIns="0" bIns="0" anchor="t">
            <a:spAutoFit/>
          </a:bodyPr>
          <a:lstStyle/>
          <a:p>
            <a:pPr algn="l">
              <a:lnSpc>
                <a:spcPts val="1800"/>
              </a:lnSpc>
            </a:pPr>
            <a:r>
              <a:rPr b="0" sz="1200" i="0" u="none">
                <a:solidFill>
                  <a:srgbClr val="475569"/>
                </a:solidFill>
                <a:latin typeface="Inter"/>
              </a:rPr>
              <a:t>Source: </a:t>
            </a:r>
            <a:r>
              <a:rPr b="0" sz="1200" i="0" u="none">
                <a:solidFill>
                  <a:srgbClr val="4F46E5"/>
                </a:solidFill>
                <a:latin typeface="Inter"/>
              </a:rPr>
              <a:t>graffersid.com</a:t>
            </a:r>
          </a:p>
        </p:txBody>
      </p:sp>
      <p:sp>
        <p:nvSpPr>
          <p:cNvPr id="6" name="TextBox 5"/>
          <p:cNvSpPr txBox="1"/>
          <p:nvPr/>
        </p:nvSpPr>
        <p:spPr>
          <a:xfrm>
            <a:off x="523875" y="428625"/>
            <a:ext cx="11668125" cy="381000"/>
          </a:xfrm>
          <a:prstGeom prst="rect">
            <a:avLst/>
          </a:prstGeom>
          <a:noFill/>
        </p:spPr>
        <p:txBody>
          <a:bodyPr wrap="square" lIns="0" rIns="0" tIns="0" bIns="0" anchor="t">
            <a:spAutoFit/>
          </a:bodyPr>
          <a:lstStyle/>
          <a:p>
            <a:pPr algn="l"/>
            <a:r>
              <a:rPr b="1" sz="2400" i="0" u="none">
                <a:solidFill>
                  <a:srgbClr val="0F172A"/>
                </a:solidFill>
                <a:latin typeface="Plus Jakarta Sans"/>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